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Red Hat Display Bold" panose="020B0604020202020204" charset="0"/>
      <p:regular r:id="rId13"/>
    </p:embeddedFont>
    <p:embeddedFont>
      <p:font typeface="Red Hat Display" panose="020B0604020202020204" charset="0"/>
      <p:regular r:id="rId14"/>
    </p:embeddedFont>
    <p:embeddedFont>
      <p:font typeface="Open Sans Bold" panose="020B0604020202020204" charset="0"/>
      <p:regular r:id="rId15"/>
    </p:embeddedFont>
    <p:embeddedFont>
      <p:font typeface="Open Sans" panose="020B0604020202020204" charset="0"/>
      <p:regular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6066" autoAdjust="0"/>
  </p:normalViewPr>
  <p:slideViewPr>
    <p:cSldViewPr>
      <p:cViewPr varScale="1">
        <p:scale>
          <a:sx n="66" d="100"/>
          <a:sy n="66" d="100"/>
        </p:scale>
        <p:origin x="1014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5020F-7003-4703-AC9D-8EFB0C563F7C}" type="datetimeFigureOut">
              <a:rPr lang="bg-BG" smtClean="0"/>
              <a:t>22.4.2026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BA547-B606-40EB-B822-2FCF41B64F5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00157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 г-жо Директор, Уважаема комисия, уважаеми гости (ако има такива/или поименно – ако е едим конкретен гост)</a:t>
            </a:r>
          </a:p>
          <a:p>
            <a:endParaRPr lang="ru-RU" dirty="0" smtClean="0"/>
          </a:p>
          <a:p>
            <a:r>
              <a:rPr lang="ru-RU" dirty="0" smtClean="0"/>
              <a:t>Аз съм Ива</a:t>
            </a:r>
            <a:r>
              <a:rPr lang="ru-RU" baseline="0" dirty="0" smtClean="0"/>
              <a:t> Колчагова</a:t>
            </a:r>
            <a:r>
              <a:rPr lang="ru-RU" dirty="0" smtClean="0"/>
              <a:t>.</a:t>
            </a:r>
          </a:p>
          <a:p>
            <a:r>
              <a:rPr lang="ru-RU" dirty="0" smtClean="0"/>
              <a:t>Темата на моят дипломен проект е „</a:t>
            </a:r>
            <a:r>
              <a:rPr lang="ru-RU" baseline="0" dirty="0" smtClean="0"/>
              <a:t>Класификация на изображения</a:t>
            </a:r>
            <a:r>
              <a:rPr lang="ru-RU" dirty="0" smtClean="0"/>
              <a:t>.‘‘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12484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Цел</a:t>
            </a:r>
          </a:p>
          <a:p>
            <a:endParaRPr lang="bg-BG" dirty="0" smtClean="0"/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на разработката е да създаде интелигентно и бързо решение за разпознаване на растения чрез снимки, използвайки съвременни технологии в областта на изкуствения интелект. Проектът обединява сложни алгоритми за машинно обучение с практична уеб архитектура, приложима в екологията и агрономията.</a:t>
            </a:r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199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съвременния свят бързото разпознаване на флората е от ключово значение за специалисти и любители. Основната ми цел беше да създам модел, който не само класифицира изображенията с висока точност, но и работи достатъчно бързо, за да бъде интегриран в реално приложение. Стремях се да постигна баланс между сложността на невронната мрежа и ефективността на крайния софтуерен продукт.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76454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Технологии и</a:t>
            </a:r>
            <a:r>
              <a:rPr lang="bg-BG" baseline="0" dirty="0" smtClean="0"/>
              <a:t> архитектура на модела</a:t>
            </a:r>
          </a:p>
          <a:p>
            <a:endParaRPr lang="bg-BG" baseline="0" dirty="0" smtClean="0"/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сърцето на системата избрах Конволюционна невронна мрежа, по-конкретно архитектурата MobileNetV2. Изборът не е случаен – тази мрежа е оптимизирана за мобилни и уеб устройства, като предлага висока производителност при по-малко изчислителни ресурси.</a:t>
            </a:r>
            <a:endParaRPr lang="bg-BG" baseline="0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83172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Приложих метода </a:t>
            </a:r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Transfer Learning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(обучение чрез трансфер), като използвах предварително обучени тегла и ги донастроих за специфичните нужди на моя набор от данни за растения.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62679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Процес на обучение и подготовка на данните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Реализацията на модела премина през няколко етапа, използвайки екосистемата на Python. Извърших детайлна подготовка на данните, включително преоразмеряване и нормализация на изображенията, за да осигуря стабилност на обучението. Процесът включваше и фино настройване на последните слоеве на невронната мрежа, така че тя да се адаптира максимално добре към визуалните характеристики на конкретните растителни видове.</a:t>
            </a:r>
          </a:p>
          <a:p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679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Софтуерна реализация и Django интеграция</a:t>
            </a:r>
          </a:p>
          <a:p>
            <a:endParaRPr lang="bg-BG" dirty="0" smtClean="0"/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да направя модела достъпен за потребителите, разработих уеб приложение чрез рамката </a:t>
            </a:r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Изградих стабилно REST API, което служи като мост между потребителския интерфейс и невронната мрежа. Архитектурата е тип клиент-сървър: потребителят изпраща изображение, сървърът го обработва през обучената мрежа и връща резултат в реално време, включващ името на вида и процента на увереност на модела.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44329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Резултатите от тестовете показват, че системата успешно идентифицира растенията с висока степен на достоверност. Приложението е интуитивно и предоставя нужната информация веднага след качване на снимката. Успешната интеграция на AI модела в Django среда доказва, че сложните алгоритми могат да бъдат превърнати в достъпни инструменти за широката аудитория.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288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заключение, проектът демонстрира силата на съвременните AI технологии. Като следваща стъпка планирам разширяване на базата данни с повече видове и добавяне на функционалност за разпознаване на болести по растенията. Това би превърнало приложението в още по-ценен помощник в земеделието. Благодаря за вниманието и съм готов да отговоря на вашите въпроси!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77344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844677" y="0"/>
            <a:ext cx="5443323" cy="5453238"/>
          </a:xfrm>
          <a:custGeom>
            <a:avLst/>
            <a:gdLst/>
            <a:ahLst/>
            <a:cxnLst/>
            <a:rect l="l" t="t" r="r" b="b"/>
            <a:pathLst>
              <a:path w="5443323" h="5453238">
                <a:moveTo>
                  <a:pt x="0" y="0"/>
                </a:moveTo>
                <a:lnTo>
                  <a:pt x="5443323" y="0"/>
                </a:lnTo>
                <a:lnTo>
                  <a:pt x="5443323" y="5453238"/>
                </a:lnTo>
                <a:lnTo>
                  <a:pt x="0" y="54532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4833762"/>
            <a:ext cx="5443323" cy="5453238"/>
          </a:xfrm>
          <a:custGeom>
            <a:avLst/>
            <a:gdLst/>
            <a:ahLst/>
            <a:cxnLst/>
            <a:rect l="l" t="t" r="r" b="b"/>
            <a:pathLst>
              <a:path w="5443323" h="5453238">
                <a:moveTo>
                  <a:pt x="0" y="0"/>
                </a:moveTo>
                <a:lnTo>
                  <a:pt x="5443323" y="0"/>
                </a:lnTo>
                <a:lnTo>
                  <a:pt x="5443323" y="5453238"/>
                </a:lnTo>
                <a:lnTo>
                  <a:pt x="0" y="54532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828B2F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-1871877" y="-693131"/>
            <a:ext cx="7315200" cy="1386262"/>
          </a:xfrm>
          <a:custGeom>
            <a:avLst/>
            <a:gdLst/>
            <a:ahLst/>
            <a:cxnLst/>
            <a:rect l="l" t="t" r="r" b="b"/>
            <a:pathLst>
              <a:path w="7315200" h="1386262">
                <a:moveTo>
                  <a:pt x="0" y="0"/>
                </a:moveTo>
                <a:lnTo>
                  <a:pt x="7315200" y="0"/>
                </a:lnTo>
                <a:lnTo>
                  <a:pt x="7315200" y="1386262"/>
                </a:lnTo>
                <a:lnTo>
                  <a:pt x="0" y="13862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1201400" y="8138092"/>
            <a:ext cx="475902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2"/>
              </a:lnSpc>
            </a:pPr>
            <a:r>
              <a:rPr lang="en-US" sz="2358" dirty="0" err="1" smtClean="0">
                <a:solidFill>
                  <a:srgbClr val="49500F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Дипломан</a:t>
            </a:r>
            <a:r>
              <a:rPr lang="bg-BG" sz="2358" dirty="0" smtClean="0">
                <a:solidFill>
                  <a:srgbClr val="49500F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т</a:t>
            </a:r>
            <a:r>
              <a:rPr lang="en-US" sz="2358" dirty="0" smtClean="0">
                <a:solidFill>
                  <a:srgbClr val="49500F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: </a:t>
            </a:r>
            <a:r>
              <a:rPr lang="bg-BG" sz="2358" dirty="0" smtClean="0">
                <a:solidFill>
                  <a:srgbClr val="49500F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 </a:t>
            </a:r>
            <a:r>
              <a:rPr lang="en-US" sz="2358" dirty="0" err="1" smtClean="0">
                <a:solidFill>
                  <a:srgbClr val="49500F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Ива</a:t>
            </a:r>
            <a:r>
              <a:rPr lang="en-US" sz="2358" dirty="0" smtClean="0">
                <a:solidFill>
                  <a:srgbClr val="49500F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 </a:t>
            </a:r>
            <a:r>
              <a:rPr lang="en-US" sz="2358" dirty="0" err="1">
                <a:solidFill>
                  <a:srgbClr val="49500F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Колчагова</a:t>
            </a:r>
            <a:endParaRPr lang="en-US" sz="2358" dirty="0">
              <a:solidFill>
                <a:srgbClr val="49500F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1908738" y="9593869"/>
            <a:ext cx="7315200" cy="1386262"/>
          </a:xfrm>
          <a:custGeom>
            <a:avLst/>
            <a:gdLst/>
            <a:ahLst/>
            <a:cxnLst/>
            <a:rect l="l" t="t" r="r" b="b"/>
            <a:pathLst>
              <a:path w="7315200" h="1386262">
                <a:moveTo>
                  <a:pt x="0" y="0"/>
                </a:moveTo>
                <a:lnTo>
                  <a:pt x="7315200" y="0"/>
                </a:lnTo>
                <a:lnTo>
                  <a:pt x="7315200" y="1386262"/>
                </a:lnTo>
                <a:lnTo>
                  <a:pt x="0" y="13862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5126940" y="1358512"/>
            <a:ext cx="8141115" cy="2066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49500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ДЪРЖАВЕН ИЗПИТ ЗА ПРИДОБИВАНЕ НА ТРЕТА СТЕПЕН НА ПРОФЕСИОНАЛНА КВАЛИФИКАЦИЯ – ЧАСТ ПО ТЕПРИЯ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49500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НА ПРОЕКТА ПО ПРОФЕСИЯ КОД 481030 „ПРИЛОЖЕН ПРОГРАМИСТ“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49500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СПЕЦИАЛНОСТ КОД 4810301 „ ПРИЛОЖНО ПРОГРАМИРАНЕ“</a:t>
            </a:r>
          </a:p>
          <a:p>
            <a:pPr algn="ctr">
              <a:lnSpc>
                <a:spcPts val="2412"/>
              </a:lnSpc>
              <a:spcBef>
                <a:spcPct val="0"/>
              </a:spcBef>
            </a:pPr>
            <a:endParaRPr lang="en-US" sz="2023" b="1" dirty="0">
              <a:solidFill>
                <a:srgbClr val="49500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69306" y="4776612"/>
            <a:ext cx="6656384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2"/>
              </a:lnSpc>
              <a:spcBef>
                <a:spcPct val="0"/>
              </a:spcBef>
            </a:pPr>
            <a:r>
              <a:rPr lang="bg-BG" sz="2573" b="1" dirty="0" smtClean="0">
                <a:solidFill>
                  <a:srgbClr val="49500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Тема</a:t>
            </a:r>
            <a:r>
              <a:rPr lang="en-US" sz="2573" dirty="0" smtClean="0">
                <a:solidFill>
                  <a:srgbClr val="49500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bg-BG" sz="2573" dirty="0" smtClean="0">
                <a:solidFill>
                  <a:srgbClr val="49500F"/>
                </a:solidFill>
                <a:latin typeface="Open Sans"/>
                <a:ea typeface="Open Sans"/>
                <a:cs typeface="Open Sans"/>
                <a:sym typeface="Open Sans"/>
              </a:rPr>
              <a:t>Класификация на изображения</a:t>
            </a:r>
            <a:endParaRPr lang="en-US" sz="2573" dirty="0">
              <a:solidFill>
                <a:srgbClr val="49500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239590"/>
            <a:ext cx="1723636" cy="172363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981200" y="1142518"/>
            <a:ext cx="15544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Защо е необходимо това приложение? Бързина, точност и достъпност.</a:t>
            </a:r>
            <a:endParaRPr lang="bg-BG" sz="3200" b="1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724400" y="1028700"/>
            <a:ext cx="82509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sz="3200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Използване на </a:t>
            </a:r>
            <a:r>
              <a:rPr lang="en-US" sz="3200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CNN </a:t>
            </a:r>
            <a:r>
              <a:rPr lang="bg-BG" sz="3200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и </a:t>
            </a:r>
            <a:r>
              <a:rPr lang="en-US" sz="3200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Transfer Learning. </a:t>
            </a:r>
            <a:endParaRPr lang="bg-BG" sz="3200" b="1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1028" name="Picture 4" descr="Fruit Image Classification Model Based on MobileNetV2 with Deep Transfer  Learning Techniqu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0" y="2476500"/>
            <a:ext cx="10972800" cy="6906577"/>
          </a:xfrm>
          <a:prstGeom prst="rect">
            <a:avLst/>
          </a:prstGeom>
          <a:noFill/>
          <a:ln>
            <a:solidFill>
              <a:schemeClr val="accent3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2050" name="Picture 2" descr="What Is Transfer Learning? [Examples &amp; Newbie-Friendly Guide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400" y="2324100"/>
            <a:ext cx="10548079" cy="6223242"/>
          </a:xfrm>
          <a:prstGeom prst="rect">
            <a:avLst/>
          </a:prstGeom>
          <a:ln w="38100" cap="sq">
            <a:solidFill>
              <a:schemeClr val="accent3">
                <a:lumMod val="5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33582" y="4841073"/>
            <a:ext cx="6984352" cy="2830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8"/>
              </a:lnSpc>
            </a:pPr>
            <a:r>
              <a:rPr lang="en-US" sz="2005" b="1">
                <a:solidFill>
                  <a:srgbClr val="FFFFFF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Phase  1 :</a:t>
            </a:r>
          </a:p>
          <a:p>
            <a:pPr algn="just">
              <a:lnSpc>
                <a:spcPts val="2808"/>
              </a:lnSpc>
            </a:pPr>
            <a:r>
              <a:rPr lang="en-US" sz="2005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Lorem ipsum dolor sit amet, consectetur adipiscing elit. Quisque non elit mauris. Cras euismod, metus ac finibus finibus, felis dui suscipit purus, a maximus leo ligula at dolor. Morbi et malesuada purus. Phasellus a lacus sit amet urna tempor sollicitudin. Cras pretium tempor elit blandit egestas. Donec sed dignissim augue. Suspendisse ac vulputate leo. Cras aliquet nunc ac velit cursus viverra.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4200" y="1173361"/>
            <a:ext cx="434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/>
              <a:t>Библиотеки на </a:t>
            </a:r>
            <a:r>
              <a:rPr lang="en-US" sz="3200" b="1" dirty="0"/>
              <a:t>Python</a:t>
            </a:r>
            <a:r>
              <a:rPr lang="en-US" dirty="0"/>
              <a:t>.</a:t>
            </a:r>
            <a:endParaRPr lang="bg-BG" dirty="0"/>
          </a:p>
        </p:txBody>
      </p:sp>
      <p:pic>
        <p:nvPicPr>
          <p:cNvPr id="3074" name="Picture 2" descr="Python - Wikiversit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638300"/>
            <a:ext cx="4274939" cy="4274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3200400" y="1028700"/>
            <a:ext cx="1249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Django Framework </a:t>
            </a:r>
            <a:r>
              <a:rPr lang="bg-BG" sz="3200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и </a:t>
            </a:r>
            <a:r>
              <a:rPr lang="en-US" sz="3200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REST API. </a:t>
            </a:r>
            <a:r>
              <a:rPr lang="bg-BG" sz="3200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Клиент-сървър архитектура.</a:t>
            </a:r>
            <a:endParaRPr lang="bg-BG" sz="3200" b="1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3352800" y="1173361"/>
            <a:ext cx="1432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Точност на класификацията и потребителско преживяване</a:t>
            </a:r>
            <a:r>
              <a:rPr lang="ru-RU" b="1" dirty="0"/>
              <a:t>.</a:t>
            </a:r>
            <a:endParaRPr lang="bg-BG"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276042" y="6991205"/>
            <a:ext cx="1505315" cy="498123"/>
          </a:xfrm>
          <a:custGeom>
            <a:avLst/>
            <a:gdLst/>
            <a:ahLst/>
            <a:cxnLst/>
            <a:rect l="l" t="t" r="r" b="b"/>
            <a:pathLst>
              <a:path w="1505315" h="498123">
                <a:moveTo>
                  <a:pt x="0" y="0"/>
                </a:moveTo>
                <a:lnTo>
                  <a:pt x="1505316" y="0"/>
                </a:lnTo>
                <a:lnTo>
                  <a:pt x="1505316" y="498123"/>
                </a:lnTo>
                <a:lnTo>
                  <a:pt x="0" y="49812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459200" y="6991205"/>
            <a:ext cx="1505315" cy="498123"/>
          </a:xfrm>
          <a:custGeom>
            <a:avLst/>
            <a:gdLst/>
            <a:ahLst/>
            <a:cxnLst/>
            <a:rect l="l" t="t" r="r" b="b"/>
            <a:pathLst>
              <a:path w="1505315" h="498123">
                <a:moveTo>
                  <a:pt x="0" y="0"/>
                </a:moveTo>
                <a:lnTo>
                  <a:pt x="1505315" y="0"/>
                </a:lnTo>
                <a:lnTo>
                  <a:pt x="1505315" y="498123"/>
                </a:lnTo>
                <a:lnTo>
                  <a:pt x="0" y="49812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844677" y="0"/>
            <a:ext cx="5443323" cy="5453238"/>
          </a:xfrm>
          <a:custGeom>
            <a:avLst/>
            <a:gdLst/>
            <a:ahLst/>
            <a:cxnLst/>
            <a:rect l="l" t="t" r="r" b="b"/>
            <a:pathLst>
              <a:path w="5443323" h="5453238">
                <a:moveTo>
                  <a:pt x="0" y="0"/>
                </a:moveTo>
                <a:lnTo>
                  <a:pt x="5443323" y="0"/>
                </a:lnTo>
                <a:lnTo>
                  <a:pt x="5443323" y="5453238"/>
                </a:lnTo>
                <a:lnTo>
                  <a:pt x="0" y="54532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4833762"/>
            <a:ext cx="5443323" cy="5453238"/>
          </a:xfrm>
          <a:custGeom>
            <a:avLst/>
            <a:gdLst/>
            <a:ahLst/>
            <a:cxnLst/>
            <a:rect l="l" t="t" r="r" b="b"/>
            <a:pathLst>
              <a:path w="5443323" h="5453238">
                <a:moveTo>
                  <a:pt x="0" y="0"/>
                </a:moveTo>
                <a:lnTo>
                  <a:pt x="5443323" y="0"/>
                </a:lnTo>
                <a:lnTo>
                  <a:pt x="5443323" y="5453238"/>
                </a:lnTo>
                <a:lnTo>
                  <a:pt x="0" y="54532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914400" y="8763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687021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-1871877" y="-693131"/>
            <a:ext cx="7315200" cy="1386262"/>
          </a:xfrm>
          <a:custGeom>
            <a:avLst/>
            <a:gdLst/>
            <a:ahLst/>
            <a:cxnLst/>
            <a:rect l="l" t="t" r="r" b="b"/>
            <a:pathLst>
              <a:path w="7315200" h="1386262">
                <a:moveTo>
                  <a:pt x="0" y="0"/>
                </a:moveTo>
                <a:lnTo>
                  <a:pt x="7315200" y="0"/>
                </a:lnTo>
                <a:lnTo>
                  <a:pt x="7315200" y="1386262"/>
                </a:lnTo>
                <a:lnTo>
                  <a:pt x="0" y="13862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908738" y="9593869"/>
            <a:ext cx="7315200" cy="1386262"/>
          </a:xfrm>
          <a:custGeom>
            <a:avLst/>
            <a:gdLst/>
            <a:ahLst/>
            <a:cxnLst/>
            <a:rect l="l" t="t" r="r" b="b"/>
            <a:pathLst>
              <a:path w="7315200" h="1386262">
                <a:moveTo>
                  <a:pt x="0" y="0"/>
                </a:moveTo>
                <a:lnTo>
                  <a:pt x="7315200" y="0"/>
                </a:lnTo>
                <a:lnTo>
                  <a:pt x="7315200" y="1386262"/>
                </a:lnTo>
                <a:lnTo>
                  <a:pt x="0" y="13862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8"/>
          <p:cNvSpPr txBox="1"/>
          <p:nvPr/>
        </p:nvSpPr>
        <p:spPr>
          <a:xfrm>
            <a:off x="4031343" y="4197314"/>
            <a:ext cx="1021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6000" b="1" dirty="0" smtClean="0">
                <a:solidFill>
                  <a:schemeClr val="accent3">
                    <a:lumMod val="50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Благодаря за вниманието!</a:t>
            </a:r>
            <a:endParaRPr lang="bg-BG" sz="6000" b="1" dirty="0">
              <a:solidFill>
                <a:schemeClr val="accent3">
                  <a:lumMod val="50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414</Words>
  <Application>Microsoft Office PowerPoint</Application>
  <PresentationFormat>Custom</PresentationFormat>
  <Paragraphs>42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Red Hat Display Bold</vt:lpstr>
      <vt:lpstr>Red Hat Display</vt:lpstr>
      <vt:lpstr>Arial</vt:lpstr>
      <vt:lpstr>Open Sans Bold</vt:lpstr>
      <vt:lpstr>Open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Geometric Thesis Defense Presentation</dc:title>
  <cp:lastModifiedBy>admin</cp:lastModifiedBy>
  <cp:revision>9</cp:revision>
  <dcterms:created xsi:type="dcterms:W3CDTF">2006-08-16T00:00:00Z</dcterms:created>
  <dcterms:modified xsi:type="dcterms:W3CDTF">2026-04-22T08:39:41Z</dcterms:modified>
  <dc:identifier>DAHHeaqNLLk</dc:identifier>
</cp:coreProperties>
</file>