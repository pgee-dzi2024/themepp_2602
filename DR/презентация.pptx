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Red Hat Display" panose="020B0604020202020204" charset="0"/>
      <p:regular r:id="rId13"/>
    </p:embeddedFont>
    <p:embeddedFont>
      <p:font typeface="Open Sans" panose="020B0604020202020204" charset="0"/>
      <p:regular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Open Sans Bold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86066" autoAdjust="0"/>
  </p:normalViewPr>
  <p:slideViewPr>
    <p:cSldViewPr>
      <p:cViewPr varScale="1">
        <p:scale>
          <a:sx n="66" d="100"/>
          <a:sy n="66" d="100"/>
        </p:scale>
        <p:origin x="1014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5020F-7003-4703-AC9D-8EFB0C563F7C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BA547-B606-40EB-B822-2FCF41B64F5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00157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 г-жо Директор, Уважаема комисия, уважаеми гости (ако има такива/или поименно – ако е </a:t>
            </a:r>
            <a:r>
              <a:rPr lang="ru-RU" dirty="0" smtClean="0"/>
              <a:t>еди</a:t>
            </a:r>
            <a:r>
              <a:rPr lang="bg-BG" dirty="0" smtClean="0"/>
              <a:t>н</a:t>
            </a:r>
            <a:r>
              <a:rPr lang="ru-RU" dirty="0" smtClean="0"/>
              <a:t> </a:t>
            </a:r>
            <a:r>
              <a:rPr lang="ru-RU" dirty="0" smtClean="0"/>
              <a:t>конкретен гост)</a:t>
            </a:r>
          </a:p>
          <a:p>
            <a:endParaRPr lang="ru-RU" dirty="0" smtClean="0"/>
          </a:p>
          <a:p>
            <a:r>
              <a:rPr lang="ru-RU" dirty="0" smtClean="0"/>
              <a:t>Аз съм Ива</a:t>
            </a:r>
            <a:r>
              <a:rPr lang="ru-RU" baseline="0" dirty="0" smtClean="0"/>
              <a:t> Колчагова</a:t>
            </a:r>
            <a:r>
              <a:rPr lang="ru-RU" dirty="0" smtClean="0"/>
              <a:t>.</a:t>
            </a:r>
          </a:p>
          <a:p>
            <a:r>
              <a:rPr lang="ru-RU" dirty="0" smtClean="0"/>
              <a:t>Темата на моят дипломен проект е „</a:t>
            </a:r>
            <a:r>
              <a:rPr lang="ru-RU" baseline="0" dirty="0" smtClean="0"/>
              <a:t>Класификация на изображения</a:t>
            </a:r>
            <a:r>
              <a:rPr lang="ru-RU" dirty="0" smtClean="0"/>
              <a:t>.‘‘</a:t>
            </a:r>
          </a:p>
          <a:p>
            <a:r>
              <a:rPr lang="bg-BG" dirty="0" smtClean="0"/>
              <a:t>Проектът</a:t>
            </a:r>
            <a:r>
              <a:rPr lang="bg-BG" baseline="0" dirty="0" smtClean="0"/>
              <a:t> представлява уеб приложение, което автоматично разпознава растителни видове с помощта на бързи и точни инструменти.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124840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Цел</a:t>
            </a:r>
          </a:p>
          <a:p>
            <a:endParaRPr lang="bg-BG" dirty="0" smtClean="0"/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 на разработката е да създаде интелигентно и бързо решение за разпознаване на растения чрез снимки, използвайки съвременни технологии в областта на изкуствения интелект. Проектът обединява сложни алгоритми за машинно обучение с практична уеб архитектура, приложима в екологията и агрономията.</a:t>
            </a:r>
            <a:endParaRPr lang="bg-BG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61991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В съвременния свят бързото разпознаване на флората е от ключово значение за специалисти и любители. </a:t>
            </a:r>
            <a:r>
              <a:rPr lang="ru-RU" sz="1200" b="0" i="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Създадох модел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който не само класифицира изображенията с висока точност, но и работи достатъчно бързо, за да бъде интегриран в реално приложение. Стремях се да постигна баланс между сложността на невронната мрежа и ефективността на крайния софтуерен продукт.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76454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Технологии и</a:t>
            </a:r>
            <a:r>
              <a:rPr lang="bg-BG" baseline="0" dirty="0" smtClean="0"/>
              <a:t> архитектура на модела</a:t>
            </a:r>
          </a:p>
          <a:p>
            <a:endParaRPr lang="bg-BG" baseline="0" dirty="0" smtClean="0"/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сърцето на системата избрах Конволюционна невронна мрежа, по-конкретно архитектурата MobileNetV2. Изборът не е случаен – тази мрежа е оптимизирана за мобилни и уеб устройства, като предлага висока производителност при по-малко изчислителни ресурси.</a:t>
            </a:r>
            <a:endParaRPr lang="bg-BG" baseline="0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283172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Приложих метода </a:t>
            </a:r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Transfer Learning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(обучение чрез трансфер), като използвах предварително обучени тегла и ги донастроих за специфичните нужди на моя набор от данни за растения.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62679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Процес на обучение и подготовка на данните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Реализацията на модела премина през няколко етапа, използвайки екосистемата на Python. Извърших детайлна подготовка на данните, включително преоразмеряване и нормализация на изображенията, за да осигуря стабилност на обучението. Процесът включваше и фино настройване на последните слоеве на невронната мрежа, така че тя да се адаптира максимално добре към визуалните характеристики на конкретните растителни видове.</a:t>
            </a:r>
          </a:p>
          <a:p>
            <a:endParaRPr lang="bg-BG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6794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Софтуерна реализация и Django интеграция</a:t>
            </a:r>
          </a:p>
          <a:p>
            <a:endParaRPr lang="bg-BG" dirty="0" smtClean="0"/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да направя модела достъпен за потребителите, разработих уеб приложение чрез рамката </a:t>
            </a:r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Изградих стабилно REST API, което служи като мост между потребителския интерфейс и невронната мрежа. Архитектурата е тип клиент-сървър: потребителят изпраща изображение, сървърът го обработва през обучената мрежа и връща резултат в реално време, включващ името на вида и процента на увереност на модела.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443294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Резултатите от тестовете показват, че системата успешно идентифицира растенията с висока степен на достоверност. Приложението е интуитивно и предоставя нужната информация веднага след качване на снимката. Успешната интеграция на AI модела в Django среда доказва, че сложните алгоритми могат да бъдат превърнати в достъпни инструменти за широката аудитория.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288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заключение, проектът демонстрира силата на съвременните AI технологии. Като следваща стъпка планирам разширяване на базата данни с повече видове и добавяне на функционалност за разпознаване на болести по растенията. Това би превърнало приложението в още по-ценен помощник в земеделието. Благодаря за вниманието и съм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</a:t>
            </a:r>
            <a:r>
              <a:rPr lang="bg-BG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 отговоря на вашите въпроси!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77344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844677" y="0"/>
            <a:ext cx="5443323" cy="5453238"/>
          </a:xfrm>
          <a:custGeom>
            <a:avLst/>
            <a:gdLst/>
            <a:ahLst/>
            <a:cxnLst/>
            <a:rect l="l" t="t" r="r" b="b"/>
            <a:pathLst>
              <a:path w="5443323" h="5453238">
                <a:moveTo>
                  <a:pt x="0" y="0"/>
                </a:moveTo>
                <a:lnTo>
                  <a:pt x="5443323" y="0"/>
                </a:lnTo>
                <a:lnTo>
                  <a:pt x="5443323" y="5453238"/>
                </a:lnTo>
                <a:lnTo>
                  <a:pt x="0" y="54532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4833762"/>
            <a:ext cx="5443323" cy="5453238"/>
          </a:xfrm>
          <a:custGeom>
            <a:avLst/>
            <a:gdLst/>
            <a:ahLst/>
            <a:cxnLst/>
            <a:rect l="l" t="t" r="r" b="b"/>
            <a:pathLst>
              <a:path w="5443323" h="5453238">
                <a:moveTo>
                  <a:pt x="0" y="0"/>
                </a:moveTo>
                <a:lnTo>
                  <a:pt x="5443323" y="0"/>
                </a:lnTo>
                <a:lnTo>
                  <a:pt x="5443323" y="5453238"/>
                </a:lnTo>
                <a:lnTo>
                  <a:pt x="0" y="54532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828B2F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-1871877" y="-693131"/>
            <a:ext cx="7315200" cy="1386262"/>
          </a:xfrm>
          <a:custGeom>
            <a:avLst/>
            <a:gdLst/>
            <a:ahLst/>
            <a:cxnLst/>
            <a:rect l="l" t="t" r="r" b="b"/>
            <a:pathLst>
              <a:path w="7315200" h="1386262">
                <a:moveTo>
                  <a:pt x="0" y="0"/>
                </a:moveTo>
                <a:lnTo>
                  <a:pt x="7315200" y="0"/>
                </a:lnTo>
                <a:lnTo>
                  <a:pt x="7315200" y="1386262"/>
                </a:lnTo>
                <a:lnTo>
                  <a:pt x="0" y="13862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1201400" y="8138092"/>
            <a:ext cx="4759027" cy="388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2"/>
              </a:lnSpc>
            </a:pPr>
            <a:r>
              <a:rPr lang="en-US" sz="2358" dirty="0" err="1" smtClean="0">
                <a:solidFill>
                  <a:srgbClr val="49500F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Дипломан</a:t>
            </a:r>
            <a:r>
              <a:rPr lang="bg-BG" sz="2358" dirty="0" smtClean="0">
                <a:solidFill>
                  <a:srgbClr val="49500F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т</a:t>
            </a:r>
            <a:r>
              <a:rPr lang="en-US" sz="2358" dirty="0" smtClean="0">
                <a:solidFill>
                  <a:srgbClr val="49500F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: </a:t>
            </a:r>
            <a:r>
              <a:rPr lang="bg-BG" sz="2358" dirty="0" smtClean="0">
                <a:solidFill>
                  <a:srgbClr val="49500F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 </a:t>
            </a:r>
            <a:r>
              <a:rPr lang="en-US" sz="2358" dirty="0" err="1" smtClean="0">
                <a:solidFill>
                  <a:srgbClr val="49500F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Ива</a:t>
            </a:r>
            <a:r>
              <a:rPr lang="en-US" sz="2358" dirty="0" smtClean="0">
                <a:solidFill>
                  <a:srgbClr val="49500F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 </a:t>
            </a:r>
            <a:r>
              <a:rPr lang="en-US" sz="2358" dirty="0" err="1">
                <a:solidFill>
                  <a:srgbClr val="49500F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Колчагова</a:t>
            </a:r>
            <a:endParaRPr lang="en-US" sz="2358" dirty="0">
              <a:solidFill>
                <a:srgbClr val="49500F"/>
              </a:solidFill>
              <a:latin typeface="Times New Roman" panose="02020603050405020304" pitchFamily="18" charset="0"/>
              <a:ea typeface="Red Hat Display"/>
              <a:cs typeface="Times New Roman" panose="02020603050405020304" pitchFamily="18" charset="0"/>
              <a:sym typeface="Red Hat Display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1908738" y="9593869"/>
            <a:ext cx="7315200" cy="1386262"/>
          </a:xfrm>
          <a:custGeom>
            <a:avLst/>
            <a:gdLst/>
            <a:ahLst/>
            <a:cxnLst/>
            <a:rect l="l" t="t" r="r" b="b"/>
            <a:pathLst>
              <a:path w="7315200" h="1386262">
                <a:moveTo>
                  <a:pt x="0" y="0"/>
                </a:moveTo>
                <a:lnTo>
                  <a:pt x="7315200" y="0"/>
                </a:lnTo>
                <a:lnTo>
                  <a:pt x="7315200" y="1386262"/>
                </a:lnTo>
                <a:lnTo>
                  <a:pt x="0" y="13862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5126940" y="1358512"/>
            <a:ext cx="8141115" cy="2103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49500F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ДЪРЖАВЕН ИЗПИТ ЗА ПРИДОБИВАНЕ НА ТРЕТА СТЕПЕН НА ПРОФЕСИОНАЛНА КВАЛИФИКАЦИЯ – ЧАСТ ПО ТЕПРИЯ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49500F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 НА ПРОЕКТА ПО ПРОФЕСИЯ КОД 481030 „ПРИЛОЖЕН ПРОГРАМИСТ“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49500F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 СПЕЦИАЛНОСТ КОД 4810301 „ ПРИЛОЖНО ПРОГРАМИРАНЕ“</a:t>
            </a:r>
          </a:p>
          <a:p>
            <a:pPr algn="ctr">
              <a:lnSpc>
                <a:spcPts val="2412"/>
              </a:lnSpc>
              <a:spcBef>
                <a:spcPct val="0"/>
              </a:spcBef>
            </a:pPr>
            <a:endParaRPr lang="en-US" sz="2023" b="1" dirty="0">
              <a:solidFill>
                <a:srgbClr val="49500F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869306" y="4776612"/>
            <a:ext cx="6656384" cy="423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2"/>
              </a:lnSpc>
              <a:spcBef>
                <a:spcPct val="0"/>
              </a:spcBef>
            </a:pPr>
            <a:r>
              <a:rPr lang="bg-BG" sz="2573" b="1" dirty="0" smtClean="0">
                <a:solidFill>
                  <a:srgbClr val="49500F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Тема</a:t>
            </a:r>
            <a:r>
              <a:rPr lang="en-US" sz="2573" dirty="0" smtClean="0">
                <a:solidFill>
                  <a:srgbClr val="49500F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: </a:t>
            </a:r>
            <a:r>
              <a:rPr lang="bg-BG" sz="2573" dirty="0" smtClean="0">
                <a:solidFill>
                  <a:srgbClr val="49500F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Класификация на изображения</a:t>
            </a:r>
            <a:endParaRPr lang="en-US" sz="2573" dirty="0">
              <a:solidFill>
                <a:srgbClr val="49500F"/>
              </a:solidFill>
              <a:latin typeface="Times New Roman" panose="02020603050405020304" pitchFamily="18" charset="0"/>
              <a:ea typeface="Open Sans"/>
              <a:cs typeface="Times New Roman" panose="02020603050405020304" pitchFamily="18" charset="0"/>
              <a:sym typeface="Open San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1239590"/>
            <a:ext cx="1723636" cy="172363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6030279" y="221962"/>
            <a:ext cx="3276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Цел на проекта</a:t>
            </a:r>
            <a:endParaRPr lang="bg-BG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143" y="-1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4419600" y="221961"/>
            <a:ext cx="15544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Защо е необходимо това приложение? </a:t>
            </a:r>
            <a:endParaRPr lang="bg-BG" sz="3200" b="1" dirty="0"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4572000" y="221962"/>
            <a:ext cx="7761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bg-BG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Използване на </a:t>
            </a:r>
            <a:r>
              <a:rPr lang="en-US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CNN </a:t>
            </a:r>
            <a:r>
              <a:rPr lang="bg-BG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 </a:t>
            </a:r>
            <a:r>
              <a:rPr lang="en-US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Transfer Learning. </a:t>
            </a:r>
            <a:endParaRPr lang="bg-BG" sz="3200" b="1" dirty="0"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187" y="1237962"/>
            <a:ext cx="13868400" cy="9036338"/>
          </a:xfrm>
          <a:prstGeom prst="rect">
            <a:avLst/>
          </a:prstGeom>
          <a:ln w="3175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028700"/>
            <a:ext cx="14782800" cy="9258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6057900" y="221962"/>
            <a:ext cx="434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Библиотеки на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g-B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Python - Wikiversit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422" b="92266" l="5391" r="9476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7339" y="1153404"/>
            <a:ext cx="2904671" cy="29046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Django - Full Stack Python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100000">
                        <a14:foregroundMark x1="46333" y1="31579" x2="48000" y2="57895"/>
                        <a14:foregroundMark x1="87917" y1="31579" x2="83250" y2="56938"/>
                        <a14:foregroundMark x1="37500" y1="34450" x2="40917" y2="54067"/>
                        <a14:foregroundMark x1="23583" y1="38278" x2="22583" y2="62679"/>
                        <a14:foregroundMark x1="21917" y1="13158" x2="21917" y2="13158"/>
                        <a14:foregroundMark x1="14833" y1="32536" x2="14167" y2="3827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029" y="5387582"/>
            <a:ext cx="4286228" cy="14930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75" b="99302" l="4197" r="96898">
                        <a14:foregroundMark x1="5657" y1="24782" x2="47080" y2="209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2317" y="6134100"/>
            <a:ext cx="2460394" cy="25726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34" name="Picture 10" descr="Keras: Deep Learning for humans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40771" y="5264576"/>
            <a:ext cx="5572557" cy="16160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590800" y="221962"/>
            <a:ext cx="1249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Django Framework </a:t>
            </a:r>
            <a:r>
              <a:rPr lang="bg-BG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 </a:t>
            </a:r>
            <a:r>
              <a:rPr lang="en-US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REST API. </a:t>
            </a:r>
            <a:r>
              <a:rPr lang="bg-BG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Клиент-сървър архитектура.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981200" y="221962"/>
            <a:ext cx="1432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Точност на класификацията и потребителско преживяване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g-BG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276042" y="6991205"/>
            <a:ext cx="1505315" cy="498123"/>
          </a:xfrm>
          <a:custGeom>
            <a:avLst/>
            <a:gdLst/>
            <a:ahLst/>
            <a:cxnLst/>
            <a:rect l="l" t="t" r="r" b="b"/>
            <a:pathLst>
              <a:path w="1505315" h="498123">
                <a:moveTo>
                  <a:pt x="0" y="0"/>
                </a:moveTo>
                <a:lnTo>
                  <a:pt x="1505316" y="0"/>
                </a:lnTo>
                <a:lnTo>
                  <a:pt x="1505316" y="498123"/>
                </a:lnTo>
                <a:lnTo>
                  <a:pt x="0" y="49812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6459200" y="6991205"/>
            <a:ext cx="1505315" cy="498123"/>
          </a:xfrm>
          <a:custGeom>
            <a:avLst/>
            <a:gdLst/>
            <a:ahLst/>
            <a:cxnLst/>
            <a:rect l="l" t="t" r="r" b="b"/>
            <a:pathLst>
              <a:path w="1505315" h="498123">
                <a:moveTo>
                  <a:pt x="0" y="0"/>
                </a:moveTo>
                <a:lnTo>
                  <a:pt x="1505315" y="0"/>
                </a:lnTo>
                <a:lnTo>
                  <a:pt x="1505315" y="498123"/>
                </a:lnTo>
                <a:lnTo>
                  <a:pt x="0" y="49812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844677" y="0"/>
            <a:ext cx="5443323" cy="5453238"/>
          </a:xfrm>
          <a:custGeom>
            <a:avLst/>
            <a:gdLst/>
            <a:ahLst/>
            <a:cxnLst/>
            <a:rect l="l" t="t" r="r" b="b"/>
            <a:pathLst>
              <a:path w="5443323" h="5453238">
                <a:moveTo>
                  <a:pt x="0" y="0"/>
                </a:moveTo>
                <a:lnTo>
                  <a:pt x="5443323" y="0"/>
                </a:lnTo>
                <a:lnTo>
                  <a:pt x="5443323" y="5453238"/>
                </a:lnTo>
                <a:lnTo>
                  <a:pt x="0" y="54532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4833762"/>
            <a:ext cx="5443323" cy="5453238"/>
          </a:xfrm>
          <a:custGeom>
            <a:avLst/>
            <a:gdLst/>
            <a:ahLst/>
            <a:cxnLst/>
            <a:rect l="l" t="t" r="r" b="b"/>
            <a:pathLst>
              <a:path w="5443323" h="5453238">
                <a:moveTo>
                  <a:pt x="0" y="0"/>
                </a:moveTo>
                <a:lnTo>
                  <a:pt x="5443323" y="0"/>
                </a:lnTo>
                <a:lnTo>
                  <a:pt x="5443323" y="5453238"/>
                </a:lnTo>
                <a:lnTo>
                  <a:pt x="0" y="54532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914400" y="8763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687021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-1871877" y="-693131"/>
            <a:ext cx="7315200" cy="1386262"/>
          </a:xfrm>
          <a:custGeom>
            <a:avLst/>
            <a:gdLst/>
            <a:ahLst/>
            <a:cxnLst/>
            <a:rect l="l" t="t" r="r" b="b"/>
            <a:pathLst>
              <a:path w="7315200" h="1386262">
                <a:moveTo>
                  <a:pt x="0" y="0"/>
                </a:moveTo>
                <a:lnTo>
                  <a:pt x="7315200" y="0"/>
                </a:lnTo>
                <a:lnTo>
                  <a:pt x="7315200" y="1386262"/>
                </a:lnTo>
                <a:lnTo>
                  <a:pt x="0" y="13862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908738" y="9593869"/>
            <a:ext cx="7315200" cy="1386262"/>
          </a:xfrm>
          <a:custGeom>
            <a:avLst/>
            <a:gdLst/>
            <a:ahLst/>
            <a:cxnLst/>
            <a:rect l="l" t="t" r="r" b="b"/>
            <a:pathLst>
              <a:path w="7315200" h="1386262">
                <a:moveTo>
                  <a:pt x="0" y="0"/>
                </a:moveTo>
                <a:lnTo>
                  <a:pt x="7315200" y="0"/>
                </a:lnTo>
                <a:lnTo>
                  <a:pt x="7315200" y="1386262"/>
                </a:lnTo>
                <a:lnTo>
                  <a:pt x="0" y="13862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8"/>
          <p:cNvSpPr txBox="1"/>
          <p:nvPr/>
        </p:nvSpPr>
        <p:spPr>
          <a:xfrm>
            <a:off x="4031343" y="4197314"/>
            <a:ext cx="1021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6000" b="1" dirty="0" smtClean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Благодаря за вниманието!</a:t>
            </a:r>
            <a:endParaRPr lang="bg-BG" sz="6000" b="1" dirty="0">
              <a:solidFill>
                <a:schemeClr val="accent3">
                  <a:lumMod val="50000"/>
                </a:schemeClr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354</Words>
  <Application>Microsoft Office PowerPoint</Application>
  <PresentationFormat>Custom</PresentationFormat>
  <Paragraphs>42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Red Hat Display</vt:lpstr>
      <vt:lpstr>Times New Roman</vt:lpstr>
      <vt:lpstr>Arial</vt:lpstr>
      <vt:lpstr>Open Sans</vt:lpstr>
      <vt:lpstr>Calibri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Geometric Thesis Defense Presentation</dc:title>
  <cp:lastModifiedBy>admin</cp:lastModifiedBy>
  <cp:revision>17</cp:revision>
  <dcterms:created xsi:type="dcterms:W3CDTF">2006-08-16T00:00:00Z</dcterms:created>
  <dcterms:modified xsi:type="dcterms:W3CDTF">2026-04-27T07:45:29Z</dcterms:modified>
  <dc:identifier>DAHHeaqNLLk</dc:identifier>
</cp:coreProperties>
</file>