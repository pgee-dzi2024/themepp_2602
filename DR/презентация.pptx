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Open Sans" panose="020B0604020202020204" charset="0"/>
      <p:regular r:id="rId13"/>
    </p:embeddedFont>
    <p:embeddedFont>
      <p:font typeface="Red Hat Display" panose="020B0604020202020204" charset="0"/>
      <p:regular r:id="rId14"/>
    </p:embeddedFont>
    <p:embeddedFont>
      <p:font typeface="Open Sans Bold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6066" autoAdjust="0"/>
  </p:normalViewPr>
  <p:slideViewPr>
    <p:cSldViewPr>
      <p:cViewPr varScale="1">
        <p:scale>
          <a:sx n="66" d="100"/>
          <a:sy n="66" d="100"/>
        </p:scale>
        <p:origin x="101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5020F-7003-4703-AC9D-8EFB0C563F7C}" type="datetimeFigureOut">
              <a:rPr lang="bg-BG" smtClean="0"/>
              <a:t>28.4.2026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BA547-B606-40EB-B822-2FCF41B64F5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00157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Уважаема г-жо Директор, Уважаема комисия, уважаеми гости (ако има такива/или поименно – ако е еди</a:t>
            </a:r>
            <a:r>
              <a:rPr lang="bg-BG" dirty="0" smtClean="0"/>
              <a:t>н</a:t>
            </a:r>
            <a:r>
              <a:rPr lang="ru-RU" dirty="0" smtClean="0"/>
              <a:t> конкретен гост)</a:t>
            </a:r>
          </a:p>
          <a:p>
            <a:endParaRPr lang="ru-RU" dirty="0" smtClean="0"/>
          </a:p>
          <a:p>
            <a:r>
              <a:rPr lang="ru-RU" dirty="0" smtClean="0"/>
              <a:t>Аз съм Ива</a:t>
            </a:r>
            <a:r>
              <a:rPr lang="ru-RU" baseline="0" dirty="0" smtClean="0"/>
              <a:t> Колчагова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Темата на моят дипломен проект е „</a:t>
            </a:r>
            <a:r>
              <a:rPr lang="ru-RU" baseline="0" dirty="0" smtClean="0"/>
              <a:t>Класификация на изображения</a:t>
            </a:r>
            <a:r>
              <a:rPr lang="ru-RU" dirty="0" smtClean="0"/>
              <a:t>.‘‘</a:t>
            </a:r>
          </a:p>
          <a:p>
            <a:r>
              <a:rPr lang="bg-BG" dirty="0" smtClean="0"/>
              <a:t>Проектът</a:t>
            </a:r>
            <a:r>
              <a:rPr lang="bg-BG" baseline="0" dirty="0" smtClean="0"/>
              <a:t> представлява уеб приложение, което автоматично разпознава растителни видове с помощта на бързи и точни инструменти.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12484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Цел</a:t>
            </a:r>
          </a:p>
          <a:p>
            <a:endParaRPr lang="bg-BG" dirty="0" smtClean="0"/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Целта на разработката е да създаде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точно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бързо решение за разпознаване на растения чрез снимки, използвайки съвременни технологии в областта на изкуствения интелект. Проектът обединява сложни алгоритми за машинно обучение с практична уеб архитектура, приложима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bg-BG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образованието,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екологията и агрономията.</a:t>
            </a:r>
            <a:endParaRPr lang="bg-BG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6199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съвременния свят бързото разпознаване на флората е от ключово значение за специалисти и любители. </a:t>
            </a:r>
            <a:r>
              <a:rPr lang="ru-RU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Създадох модел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който не само класифицира изображенията с висока точност, но и работи достатъчно бързо, за да бъде интегриран в реално приложение. Стремях се да постигна баланс между сложността на невронната мрежа и ефективността на крайния софтуерен продукт.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76454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Технологии и</a:t>
            </a:r>
            <a:r>
              <a:rPr lang="bg-BG" baseline="0" dirty="0" smtClean="0"/>
              <a:t> архитектура на модела</a:t>
            </a:r>
          </a:p>
          <a:p>
            <a:endParaRPr lang="bg-BG" baseline="0" dirty="0" smtClean="0"/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 сърцето на системата избрах Конволюционна невронна мрежа, по-конкретно архитектурата MobileNetV2. Изборът не е случаен – тази мрежа е оптимизирана за мобилни и уеб устройства, като предлага висока производителност при по-малко изчислителни ресурси.</a:t>
            </a:r>
            <a:endParaRPr lang="bg-BG" baseline="0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28317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Приложих метода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Transfer Learning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(обучение чрез трансфер), като използвах предварително обучени тегла и ги донастроих за специфичните нужди на моя набор от данни за растения.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62679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Проекта</a:t>
            </a:r>
            <a:r>
              <a:rPr lang="bg-BG" baseline="0" dirty="0" smtClean="0"/>
              <a:t> е базиран на езика </a:t>
            </a:r>
            <a:r>
              <a:rPr lang="en-US" baseline="0" dirty="0" smtClean="0"/>
              <a:t>Python</a:t>
            </a:r>
            <a:r>
              <a:rPr lang="bg-BG" baseline="0" dirty="0" smtClean="0"/>
              <a:t>. Основната използвана библиотека е </a:t>
            </a:r>
            <a:r>
              <a:rPr lang="en-US" baseline="0" dirty="0" err="1" smtClean="0"/>
              <a:t>TensorFlow</a:t>
            </a:r>
            <a:r>
              <a:rPr lang="bg-BG" baseline="0" dirty="0" smtClean="0"/>
              <a:t>, която изчислява сложните математически изчисления</a:t>
            </a:r>
            <a:r>
              <a:rPr lang="en-US" baseline="0" dirty="0" smtClean="0"/>
              <a:t> </a:t>
            </a:r>
            <a:r>
              <a:rPr lang="bg-BG" baseline="0" dirty="0" smtClean="0"/>
              <a:t>на зададен план. Друга използвана библиотека е </a:t>
            </a:r>
            <a:r>
              <a:rPr lang="en-US" baseline="0" dirty="0" err="1" smtClean="0"/>
              <a:t>Keras</a:t>
            </a:r>
            <a:r>
              <a:rPr lang="en-US" baseline="0" dirty="0" smtClean="0"/>
              <a:t> </a:t>
            </a:r>
            <a:r>
              <a:rPr lang="bg-BG" baseline="0" dirty="0" smtClean="0"/>
              <a:t>- </a:t>
            </a:r>
            <a:r>
              <a:rPr lang="ru-RU" baseline="0" dirty="0" smtClean="0"/>
              <a:t>т</a:t>
            </a:r>
            <a:r>
              <a:rPr lang="ru-RU" dirty="0" smtClean="0"/>
              <a:t>я служи като интерфейс от високо ниво (API), който позволява на разработчиците бързо и лесно да изграждат, обучават и тестват невронни мрежи.</a:t>
            </a:r>
            <a:r>
              <a:rPr lang="bg-BG" baseline="0" dirty="0" smtClean="0"/>
              <a:t> </a:t>
            </a:r>
            <a:endParaRPr lang="bg-BG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56794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Софтуерна реализация и Django интеграция</a:t>
            </a:r>
          </a:p>
          <a:p>
            <a:endParaRPr lang="bg-BG" dirty="0" smtClean="0"/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 да направя модела достъпен за потребителите, разработих уеб приложение чрез рамката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Django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Изградих стабилно REST API, което служи като мост между потребителския интерфейс и невронната мрежа. Архитектурата е тип клиент-сървър: потребителят изпраща изображение, сървърът го обработва през обучената мрежа и връща резултат в реално време, включващ името на вида и процента на увереност на модела.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44329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Резултатите от тестовете показват, че системата успешно идентифицира растенията с висока степен на достоверност. Приложението е интуитивно и предоставя нужната информация веднага след качване на снимката. Успешната интеграция на AI модела в Django среда доказва, че сложните алгоритми могат да бъдат превърнати в достъпни инструменти за широката аудитория.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12887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Това</a:t>
            </a:r>
            <a:r>
              <a:rPr lang="bg-BG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 накратко моят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проект,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който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доказа, че съвременните AI технологии могат успешно да се интегрират в достъпни уеб инструменти.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77344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44677" y="0"/>
            <a:ext cx="5443323" cy="5453238"/>
          </a:xfrm>
          <a:custGeom>
            <a:avLst/>
            <a:gdLst/>
            <a:ahLst/>
            <a:cxnLst/>
            <a:rect l="l" t="t" r="r" b="b"/>
            <a:pathLst>
              <a:path w="5443323" h="5453238">
                <a:moveTo>
                  <a:pt x="0" y="0"/>
                </a:moveTo>
                <a:lnTo>
                  <a:pt x="5443323" y="0"/>
                </a:lnTo>
                <a:lnTo>
                  <a:pt x="5443323" y="5453238"/>
                </a:lnTo>
                <a:lnTo>
                  <a:pt x="0" y="5453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833762"/>
            <a:ext cx="5443323" cy="5453238"/>
          </a:xfrm>
          <a:custGeom>
            <a:avLst/>
            <a:gdLst/>
            <a:ahLst/>
            <a:cxnLst/>
            <a:rect l="l" t="t" r="r" b="b"/>
            <a:pathLst>
              <a:path w="5443323" h="5453238">
                <a:moveTo>
                  <a:pt x="0" y="0"/>
                </a:moveTo>
                <a:lnTo>
                  <a:pt x="5443323" y="0"/>
                </a:lnTo>
                <a:lnTo>
                  <a:pt x="5443323" y="5453238"/>
                </a:lnTo>
                <a:lnTo>
                  <a:pt x="0" y="5453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28B2F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1871877" y="-693131"/>
            <a:ext cx="7315200" cy="1386262"/>
          </a:xfrm>
          <a:custGeom>
            <a:avLst/>
            <a:gdLst/>
            <a:ahLst/>
            <a:cxnLst/>
            <a:rect l="l" t="t" r="r" b="b"/>
            <a:pathLst>
              <a:path w="7315200" h="1386262">
                <a:moveTo>
                  <a:pt x="0" y="0"/>
                </a:moveTo>
                <a:lnTo>
                  <a:pt x="7315200" y="0"/>
                </a:lnTo>
                <a:lnTo>
                  <a:pt x="7315200" y="1386262"/>
                </a:lnTo>
                <a:lnTo>
                  <a:pt x="0" y="13862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201400" y="8138092"/>
            <a:ext cx="4759027" cy="388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2"/>
              </a:lnSpc>
            </a:pPr>
            <a:r>
              <a:rPr lang="en-US" sz="2358" dirty="0" err="1" smtClean="0">
                <a:solidFill>
                  <a:srgbClr val="49500F"/>
                </a:solidFill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Дипломан</a:t>
            </a:r>
            <a:r>
              <a:rPr lang="bg-BG" sz="2358" dirty="0" smtClean="0">
                <a:solidFill>
                  <a:srgbClr val="49500F"/>
                </a:solidFill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т</a:t>
            </a:r>
            <a:r>
              <a:rPr lang="en-US" sz="2358" dirty="0" smtClean="0">
                <a:solidFill>
                  <a:srgbClr val="49500F"/>
                </a:solidFill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: </a:t>
            </a:r>
            <a:r>
              <a:rPr lang="bg-BG" sz="2358" dirty="0" smtClean="0">
                <a:solidFill>
                  <a:srgbClr val="49500F"/>
                </a:solidFill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 </a:t>
            </a:r>
            <a:r>
              <a:rPr lang="en-US" sz="2358" dirty="0" err="1" smtClean="0">
                <a:solidFill>
                  <a:srgbClr val="49500F"/>
                </a:solidFill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Ива</a:t>
            </a:r>
            <a:r>
              <a:rPr lang="en-US" sz="2358" dirty="0" smtClean="0">
                <a:solidFill>
                  <a:srgbClr val="49500F"/>
                </a:solidFill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 </a:t>
            </a:r>
            <a:r>
              <a:rPr lang="en-US" sz="2358" dirty="0" err="1">
                <a:solidFill>
                  <a:srgbClr val="49500F"/>
                </a:solidFill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Колчагова</a:t>
            </a:r>
            <a:endParaRPr lang="en-US" sz="2358" dirty="0">
              <a:solidFill>
                <a:srgbClr val="49500F"/>
              </a:solidFill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1908738" y="9593869"/>
            <a:ext cx="7315200" cy="1386262"/>
          </a:xfrm>
          <a:custGeom>
            <a:avLst/>
            <a:gdLst/>
            <a:ahLst/>
            <a:cxnLst/>
            <a:rect l="l" t="t" r="r" b="b"/>
            <a:pathLst>
              <a:path w="7315200" h="1386262">
                <a:moveTo>
                  <a:pt x="0" y="0"/>
                </a:moveTo>
                <a:lnTo>
                  <a:pt x="7315200" y="0"/>
                </a:lnTo>
                <a:lnTo>
                  <a:pt x="7315200" y="1386262"/>
                </a:lnTo>
                <a:lnTo>
                  <a:pt x="0" y="13862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126940" y="1358512"/>
            <a:ext cx="8141115" cy="210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2"/>
              </a:lnSpc>
            </a:pPr>
            <a:r>
              <a:rPr lang="en-US" sz="2023" b="1" dirty="0">
                <a:solidFill>
                  <a:srgbClr val="49500F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ДЪРЖАВЕН ИЗПИТ ЗА ПРИДОБИВАНЕ НА ТРЕТА СТЕПЕН НА ПРОФЕСИОНАЛНА КВАЛИФИКАЦИЯ – ЧАСТ ПО ТЕПРИЯ</a:t>
            </a:r>
          </a:p>
          <a:p>
            <a:pPr algn="ctr">
              <a:lnSpc>
                <a:spcPts val="2832"/>
              </a:lnSpc>
            </a:pPr>
            <a:r>
              <a:rPr lang="en-US" sz="2023" b="1" dirty="0">
                <a:solidFill>
                  <a:srgbClr val="49500F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НА ПРОЕКТА ПО ПРОФЕСИЯ КОД 481030 „ПРИЛОЖЕН ПРОГРАМИСТ“</a:t>
            </a:r>
          </a:p>
          <a:p>
            <a:pPr algn="ctr">
              <a:lnSpc>
                <a:spcPts val="2832"/>
              </a:lnSpc>
            </a:pPr>
            <a:r>
              <a:rPr lang="en-US" sz="2023" b="1" dirty="0">
                <a:solidFill>
                  <a:srgbClr val="49500F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СПЕЦИАЛНОСТ КОД 4810301 „ ПРИЛОЖНО ПРОГРАМИРАНЕ“</a:t>
            </a:r>
          </a:p>
          <a:p>
            <a:pPr algn="ctr">
              <a:lnSpc>
                <a:spcPts val="2412"/>
              </a:lnSpc>
              <a:spcBef>
                <a:spcPct val="0"/>
              </a:spcBef>
            </a:pPr>
            <a:endParaRPr lang="en-US" sz="2023" b="1" dirty="0">
              <a:solidFill>
                <a:srgbClr val="49500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869306" y="4776612"/>
            <a:ext cx="6656384" cy="423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  <a:spcBef>
                <a:spcPct val="0"/>
              </a:spcBef>
            </a:pPr>
            <a:r>
              <a:rPr lang="bg-BG" sz="2573" b="1" dirty="0" smtClean="0">
                <a:solidFill>
                  <a:srgbClr val="49500F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Тема</a:t>
            </a:r>
            <a:r>
              <a:rPr lang="en-US" sz="2573" dirty="0" smtClean="0">
                <a:solidFill>
                  <a:srgbClr val="49500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: </a:t>
            </a:r>
            <a:r>
              <a:rPr lang="bg-BG" sz="2573" dirty="0" smtClean="0">
                <a:solidFill>
                  <a:srgbClr val="49500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Класификация на изображения</a:t>
            </a:r>
            <a:endParaRPr lang="en-US" sz="2573" dirty="0">
              <a:solidFill>
                <a:srgbClr val="49500F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239590"/>
            <a:ext cx="1723636" cy="17236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59200" cy="1028700"/>
            <a:chOff x="0" y="0"/>
            <a:chExt cx="4334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33" cy="270933"/>
            </a:xfrm>
            <a:custGeom>
              <a:avLst/>
              <a:gdLst/>
              <a:ahLst/>
              <a:cxnLst/>
              <a:rect l="l" t="t" r="r" b="b"/>
              <a:pathLst>
                <a:path w="4334933" h="270933">
                  <a:moveTo>
                    <a:pt x="0" y="0"/>
                  </a:moveTo>
                  <a:lnTo>
                    <a:pt x="4334933" y="0"/>
                  </a:lnTo>
                  <a:lnTo>
                    <a:pt x="4334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DA8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4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87958" y="0"/>
            <a:ext cx="2900042" cy="1028700"/>
            <a:chOff x="0" y="0"/>
            <a:chExt cx="763797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797" cy="270933"/>
            </a:xfrm>
            <a:custGeom>
              <a:avLst/>
              <a:gdLst/>
              <a:ahLst/>
              <a:cxnLst/>
              <a:rect l="l" t="t" r="r" b="b"/>
              <a:pathLst>
                <a:path w="763797" h="270933">
                  <a:moveTo>
                    <a:pt x="0" y="0"/>
                  </a:moveTo>
                  <a:lnTo>
                    <a:pt x="763797" y="0"/>
                  </a:lnTo>
                  <a:lnTo>
                    <a:pt x="76379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28B2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3797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7391400" y="221962"/>
            <a:ext cx="3276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 на проекта</a:t>
            </a:r>
            <a:endParaRPr lang="bg-BG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43" y="-1"/>
            <a:ext cx="16459200" cy="1028700"/>
            <a:chOff x="0" y="0"/>
            <a:chExt cx="4334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33" cy="270933"/>
            </a:xfrm>
            <a:custGeom>
              <a:avLst/>
              <a:gdLst/>
              <a:ahLst/>
              <a:cxnLst/>
              <a:rect l="l" t="t" r="r" b="b"/>
              <a:pathLst>
                <a:path w="4334933" h="270933">
                  <a:moveTo>
                    <a:pt x="0" y="0"/>
                  </a:moveTo>
                  <a:lnTo>
                    <a:pt x="4334933" y="0"/>
                  </a:lnTo>
                  <a:lnTo>
                    <a:pt x="4334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DA8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4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87958" y="0"/>
            <a:ext cx="2900042" cy="1028700"/>
            <a:chOff x="0" y="0"/>
            <a:chExt cx="763797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797" cy="270933"/>
            </a:xfrm>
            <a:custGeom>
              <a:avLst/>
              <a:gdLst/>
              <a:ahLst/>
              <a:cxnLst/>
              <a:rect l="l" t="t" r="r" b="b"/>
              <a:pathLst>
                <a:path w="763797" h="270933">
                  <a:moveTo>
                    <a:pt x="0" y="0"/>
                  </a:moveTo>
                  <a:lnTo>
                    <a:pt x="763797" y="0"/>
                  </a:lnTo>
                  <a:lnTo>
                    <a:pt x="76379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28B2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3797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5334000" y="221961"/>
            <a:ext cx="1554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Защо е необходимо това приложение? </a:t>
            </a:r>
            <a:endParaRPr lang="bg-BG" sz="3200" b="1" dirty="0">
              <a:latin typeface="Times New Roman" panose="02020603050405020304" pitchFamily="18" charset="0"/>
              <a:ea typeface="Open Sans" panose="020B060402020202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59200" cy="1028700"/>
            <a:chOff x="0" y="0"/>
            <a:chExt cx="4334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33" cy="270933"/>
            </a:xfrm>
            <a:custGeom>
              <a:avLst/>
              <a:gdLst/>
              <a:ahLst/>
              <a:cxnLst/>
              <a:rect l="l" t="t" r="r" b="b"/>
              <a:pathLst>
                <a:path w="4334933" h="270933">
                  <a:moveTo>
                    <a:pt x="0" y="0"/>
                  </a:moveTo>
                  <a:lnTo>
                    <a:pt x="4334933" y="0"/>
                  </a:lnTo>
                  <a:lnTo>
                    <a:pt x="4334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DA8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4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87958" y="0"/>
            <a:ext cx="2900042" cy="1028700"/>
            <a:chOff x="0" y="0"/>
            <a:chExt cx="763797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797" cy="270933"/>
            </a:xfrm>
            <a:custGeom>
              <a:avLst/>
              <a:gdLst/>
              <a:ahLst/>
              <a:cxnLst/>
              <a:rect l="l" t="t" r="r" b="b"/>
              <a:pathLst>
                <a:path w="763797" h="270933">
                  <a:moveTo>
                    <a:pt x="0" y="0"/>
                  </a:moveTo>
                  <a:lnTo>
                    <a:pt x="763797" y="0"/>
                  </a:lnTo>
                  <a:lnTo>
                    <a:pt x="76379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28B2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3797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5257800" y="221962"/>
            <a:ext cx="7761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3200" b="1" dirty="0"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Използване на </a:t>
            </a:r>
            <a:r>
              <a:rPr lang="en-US" sz="3200" b="1" dirty="0"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CNN </a:t>
            </a:r>
            <a:r>
              <a:rPr lang="bg-BG" sz="3200" b="1" dirty="0"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и </a:t>
            </a:r>
            <a:r>
              <a:rPr lang="en-US" sz="3200" b="1" dirty="0"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Transfer Learning. </a:t>
            </a:r>
            <a:endParaRPr lang="bg-BG" sz="3200" b="1" dirty="0">
              <a:latin typeface="Times New Roman" panose="02020603050405020304" pitchFamily="18" charset="0"/>
              <a:ea typeface="Open Sans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17" y="1173361"/>
            <a:ext cx="13868400" cy="9036338"/>
          </a:xfrm>
          <a:prstGeom prst="rect">
            <a:avLst/>
          </a:prstGeom>
          <a:ln w="317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59200" cy="1028700"/>
            <a:chOff x="0" y="0"/>
            <a:chExt cx="4334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33" cy="270933"/>
            </a:xfrm>
            <a:custGeom>
              <a:avLst/>
              <a:gdLst/>
              <a:ahLst/>
              <a:cxnLst/>
              <a:rect l="l" t="t" r="r" b="b"/>
              <a:pathLst>
                <a:path w="4334933" h="270933">
                  <a:moveTo>
                    <a:pt x="0" y="0"/>
                  </a:moveTo>
                  <a:lnTo>
                    <a:pt x="4334933" y="0"/>
                  </a:lnTo>
                  <a:lnTo>
                    <a:pt x="4334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DA8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4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87958" y="0"/>
            <a:ext cx="2900042" cy="1028700"/>
            <a:chOff x="0" y="0"/>
            <a:chExt cx="763797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797" cy="270933"/>
            </a:xfrm>
            <a:custGeom>
              <a:avLst/>
              <a:gdLst/>
              <a:ahLst/>
              <a:cxnLst/>
              <a:rect l="l" t="t" r="r" b="b"/>
              <a:pathLst>
                <a:path w="763797" h="270933">
                  <a:moveTo>
                    <a:pt x="0" y="0"/>
                  </a:moveTo>
                  <a:lnTo>
                    <a:pt x="763797" y="0"/>
                  </a:lnTo>
                  <a:lnTo>
                    <a:pt x="76379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28B2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3797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028700"/>
            <a:ext cx="14782800" cy="9258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59200" cy="1028700"/>
            <a:chOff x="0" y="0"/>
            <a:chExt cx="4334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33" cy="270933"/>
            </a:xfrm>
            <a:custGeom>
              <a:avLst/>
              <a:gdLst/>
              <a:ahLst/>
              <a:cxnLst/>
              <a:rect l="l" t="t" r="r" b="b"/>
              <a:pathLst>
                <a:path w="4334933" h="270933">
                  <a:moveTo>
                    <a:pt x="0" y="0"/>
                  </a:moveTo>
                  <a:lnTo>
                    <a:pt x="4334933" y="0"/>
                  </a:lnTo>
                  <a:lnTo>
                    <a:pt x="4334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DA8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4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87958" y="0"/>
            <a:ext cx="2900042" cy="1028700"/>
            <a:chOff x="0" y="0"/>
            <a:chExt cx="763797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797" cy="270933"/>
            </a:xfrm>
            <a:custGeom>
              <a:avLst/>
              <a:gdLst/>
              <a:ahLst/>
              <a:cxnLst/>
              <a:rect l="l" t="t" r="r" b="b"/>
              <a:pathLst>
                <a:path w="763797" h="270933">
                  <a:moveTo>
                    <a:pt x="0" y="0"/>
                  </a:moveTo>
                  <a:lnTo>
                    <a:pt x="763797" y="0"/>
                  </a:lnTo>
                  <a:lnTo>
                    <a:pt x="76379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28B2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3797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6629400" y="221962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 на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Python - Wikiversit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22" b="92266" l="5391" r="9476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239" y="1066799"/>
            <a:ext cx="3603061" cy="36030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jango - Full Stack Pyth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46333" y1="31579" x2="48000" y2="57895"/>
                        <a14:foregroundMark x1="87917" y1="31579" x2="83250" y2="56938"/>
                        <a14:foregroundMark x1="37500" y1="34450" x2="40917" y2="54067"/>
                        <a14:foregroundMark x1="23583" y1="38278" x2="22583" y2="62679"/>
                        <a14:foregroundMark x1="21917" y1="13158" x2="21917" y2="13158"/>
                        <a14:foregroundMark x1="14833" y1="32536" x2="14167" y2="382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5275511"/>
            <a:ext cx="3730171" cy="12993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75" b="99302" l="4197" r="96898">
                        <a14:foregroundMark x1="5657" y1="24782" x2="47080" y2="20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327" y="6362700"/>
            <a:ext cx="2058883" cy="21528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34" name="Picture 10" descr="Keras: Deep Learning for humans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0771" y="5264576"/>
            <a:ext cx="4499429" cy="13048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59200" cy="1028700"/>
            <a:chOff x="0" y="0"/>
            <a:chExt cx="4334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33" cy="270933"/>
            </a:xfrm>
            <a:custGeom>
              <a:avLst/>
              <a:gdLst/>
              <a:ahLst/>
              <a:cxnLst/>
              <a:rect l="l" t="t" r="r" b="b"/>
              <a:pathLst>
                <a:path w="4334933" h="270933">
                  <a:moveTo>
                    <a:pt x="0" y="0"/>
                  </a:moveTo>
                  <a:lnTo>
                    <a:pt x="4334933" y="0"/>
                  </a:lnTo>
                  <a:lnTo>
                    <a:pt x="4334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DA8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4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87958" y="0"/>
            <a:ext cx="2900042" cy="1028700"/>
            <a:chOff x="0" y="0"/>
            <a:chExt cx="763797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797" cy="270933"/>
            </a:xfrm>
            <a:custGeom>
              <a:avLst/>
              <a:gdLst/>
              <a:ahLst/>
              <a:cxnLst/>
              <a:rect l="l" t="t" r="r" b="b"/>
              <a:pathLst>
                <a:path w="763797" h="270933">
                  <a:moveTo>
                    <a:pt x="0" y="0"/>
                  </a:moveTo>
                  <a:lnTo>
                    <a:pt x="763797" y="0"/>
                  </a:lnTo>
                  <a:lnTo>
                    <a:pt x="76379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28B2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3797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00400" y="221962"/>
            <a:ext cx="1249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Django Framework </a:t>
            </a:r>
            <a:r>
              <a:rPr lang="bg-BG" sz="3200" b="1" dirty="0"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и </a:t>
            </a:r>
            <a:r>
              <a:rPr lang="en-US" sz="3200" b="1" dirty="0"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REST API. </a:t>
            </a:r>
            <a:r>
              <a:rPr lang="bg-BG" sz="3200" b="1" dirty="0"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Клиент-сървър архитектура.</a:t>
            </a:r>
          </a:p>
        </p:txBody>
      </p:sp>
      <p:sp>
        <p:nvSpPr>
          <p:cNvPr id="9" name="AutoShape 2" descr="Клиент – сървър – У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pic>
        <p:nvPicPr>
          <p:cNvPr id="1032" name="Picture 8" descr="Файл:Client-server-model.svg – Уикипеди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4799790"/>
            <a:ext cx="5943600" cy="3566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reate a RESTFul API with Users, JWT Authentication and permission control  using Django 1.11 &amp; DRF — Part 1 | by Andreas Pogiatzis | Mediu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47900"/>
            <a:ext cx="6981825" cy="2856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59200" cy="1028700"/>
            <a:chOff x="0" y="0"/>
            <a:chExt cx="4334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33" cy="270933"/>
            </a:xfrm>
            <a:custGeom>
              <a:avLst/>
              <a:gdLst/>
              <a:ahLst/>
              <a:cxnLst/>
              <a:rect l="l" t="t" r="r" b="b"/>
              <a:pathLst>
                <a:path w="4334933" h="270933">
                  <a:moveTo>
                    <a:pt x="0" y="0"/>
                  </a:moveTo>
                  <a:lnTo>
                    <a:pt x="4334933" y="0"/>
                  </a:lnTo>
                  <a:lnTo>
                    <a:pt x="4334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DA8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4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87958" y="0"/>
            <a:ext cx="2900042" cy="1028700"/>
            <a:chOff x="0" y="0"/>
            <a:chExt cx="763797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797" cy="270933"/>
            </a:xfrm>
            <a:custGeom>
              <a:avLst/>
              <a:gdLst/>
              <a:ahLst/>
              <a:cxnLst/>
              <a:rect l="l" t="t" r="r" b="b"/>
              <a:pathLst>
                <a:path w="763797" h="270933">
                  <a:moveTo>
                    <a:pt x="0" y="0"/>
                  </a:moveTo>
                  <a:lnTo>
                    <a:pt x="763797" y="0"/>
                  </a:lnTo>
                  <a:lnTo>
                    <a:pt x="76379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28B2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3797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00400" y="221962"/>
            <a:ext cx="1432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Точност на класификацията и потребителско преживяване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59200" cy="1028700"/>
            <a:chOff x="0" y="0"/>
            <a:chExt cx="4334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33" cy="270933"/>
            </a:xfrm>
            <a:custGeom>
              <a:avLst/>
              <a:gdLst/>
              <a:ahLst/>
              <a:cxnLst/>
              <a:rect l="l" t="t" r="r" b="b"/>
              <a:pathLst>
                <a:path w="4334933" h="270933">
                  <a:moveTo>
                    <a:pt x="0" y="0"/>
                  </a:moveTo>
                  <a:lnTo>
                    <a:pt x="4334933" y="0"/>
                  </a:lnTo>
                  <a:lnTo>
                    <a:pt x="4334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DA8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4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87958" y="0"/>
            <a:ext cx="2900042" cy="1028700"/>
            <a:chOff x="0" y="0"/>
            <a:chExt cx="763797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797" cy="270933"/>
            </a:xfrm>
            <a:custGeom>
              <a:avLst/>
              <a:gdLst/>
              <a:ahLst/>
              <a:cxnLst/>
              <a:rect l="l" t="t" r="r" b="b"/>
              <a:pathLst>
                <a:path w="763797" h="270933">
                  <a:moveTo>
                    <a:pt x="0" y="0"/>
                  </a:moveTo>
                  <a:lnTo>
                    <a:pt x="763797" y="0"/>
                  </a:lnTo>
                  <a:lnTo>
                    <a:pt x="76379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28B2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3797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459200" y="6991205"/>
            <a:ext cx="1505315" cy="498123"/>
          </a:xfrm>
          <a:custGeom>
            <a:avLst/>
            <a:gdLst/>
            <a:ahLst/>
            <a:cxnLst/>
            <a:rect l="l" t="t" r="r" b="b"/>
            <a:pathLst>
              <a:path w="1505315" h="498123">
                <a:moveTo>
                  <a:pt x="0" y="0"/>
                </a:moveTo>
                <a:lnTo>
                  <a:pt x="1505315" y="0"/>
                </a:lnTo>
                <a:lnTo>
                  <a:pt x="1505315" y="498123"/>
                </a:lnTo>
                <a:lnTo>
                  <a:pt x="0" y="4981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44677" y="0"/>
            <a:ext cx="5443323" cy="5453238"/>
          </a:xfrm>
          <a:custGeom>
            <a:avLst/>
            <a:gdLst/>
            <a:ahLst/>
            <a:cxnLst/>
            <a:rect l="l" t="t" r="r" b="b"/>
            <a:pathLst>
              <a:path w="5443323" h="5453238">
                <a:moveTo>
                  <a:pt x="0" y="0"/>
                </a:moveTo>
                <a:lnTo>
                  <a:pt x="5443323" y="0"/>
                </a:lnTo>
                <a:lnTo>
                  <a:pt x="5443323" y="5453238"/>
                </a:lnTo>
                <a:lnTo>
                  <a:pt x="0" y="5453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833762"/>
            <a:ext cx="5443323" cy="5453238"/>
          </a:xfrm>
          <a:custGeom>
            <a:avLst/>
            <a:gdLst/>
            <a:ahLst/>
            <a:cxnLst/>
            <a:rect l="l" t="t" r="r" b="b"/>
            <a:pathLst>
              <a:path w="5443323" h="5453238">
                <a:moveTo>
                  <a:pt x="0" y="0"/>
                </a:moveTo>
                <a:lnTo>
                  <a:pt x="5443323" y="0"/>
                </a:lnTo>
                <a:lnTo>
                  <a:pt x="5443323" y="5453238"/>
                </a:lnTo>
                <a:lnTo>
                  <a:pt x="0" y="5453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14400" y="8763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687021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1871877" y="-693131"/>
            <a:ext cx="7315200" cy="1386262"/>
          </a:xfrm>
          <a:custGeom>
            <a:avLst/>
            <a:gdLst/>
            <a:ahLst/>
            <a:cxnLst/>
            <a:rect l="l" t="t" r="r" b="b"/>
            <a:pathLst>
              <a:path w="7315200" h="1386262">
                <a:moveTo>
                  <a:pt x="0" y="0"/>
                </a:moveTo>
                <a:lnTo>
                  <a:pt x="7315200" y="0"/>
                </a:lnTo>
                <a:lnTo>
                  <a:pt x="7315200" y="1386262"/>
                </a:lnTo>
                <a:lnTo>
                  <a:pt x="0" y="1386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908738" y="9593869"/>
            <a:ext cx="7315200" cy="1386262"/>
          </a:xfrm>
          <a:custGeom>
            <a:avLst/>
            <a:gdLst/>
            <a:ahLst/>
            <a:cxnLst/>
            <a:rect l="l" t="t" r="r" b="b"/>
            <a:pathLst>
              <a:path w="7315200" h="1386262">
                <a:moveTo>
                  <a:pt x="0" y="0"/>
                </a:moveTo>
                <a:lnTo>
                  <a:pt x="7315200" y="0"/>
                </a:lnTo>
                <a:lnTo>
                  <a:pt x="7315200" y="1386262"/>
                </a:lnTo>
                <a:lnTo>
                  <a:pt x="0" y="1386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/>
          <p:cNvSpPr txBox="1"/>
          <p:nvPr/>
        </p:nvSpPr>
        <p:spPr>
          <a:xfrm>
            <a:off x="4031343" y="4197314"/>
            <a:ext cx="10210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6000" b="1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Благодаря за вниманието!</a:t>
            </a:r>
            <a:endParaRPr lang="bg-BG" sz="60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Open Sans" panose="020B060402020202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308</Words>
  <Application>Microsoft Office PowerPoint</Application>
  <PresentationFormat>Custom</PresentationFormat>
  <Paragraphs>40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Times New Roman</vt:lpstr>
      <vt:lpstr>Arial</vt:lpstr>
      <vt:lpstr>Open Sans</vt:lpstr>
      <vt:lpstr>Red Hat Display</vt:lpstr>
      <vt:lpstr>Open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Geometric Thesis Defense Presentation</dc:title>
  <cp:lastModifiedBy>admin</cp:lastModifiedBy>
  <cp:revision>26</cp:revision>
  <dcterms:created xsi:type="dcterms:W3CDTF">2006-08-16T00:00:00Z</dcterms:created>
  <dcterms:modified xsi:type="dcterms:W3CDTF">2026-04-28T10:23:13Z</dcterms:modified>
  <dc:identifier>DAHHeaqNLLk</dc:identifier>
</cp:coreProperties>
</file>