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Red Hat Display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Open Sans" panose="020B0604020202020204" charset="0"/>
      <p:regular r:id="rId18"/>
    </p:embeddedFont>
    <p:embeddedFont>
      <p:font typeface="Open Sans Bold" panose="020B0604020202020204" charset="0"/>
      <p:regular r:id="rId19"/>
    </p:embeddedFont>
    <p:embeddedFont>
      <p:font typeface="Century Gothic" panose="020B0502020202020204" pitchFamily="34" charset="0"/>
      <p:regular r:id="rId20"/>
      <p:bold r:id="rId21"/>
      <p:italic r:id="rId22"/>
      <p:boldItalic r:id="rId23"/>
    </p:embeddedFont>
    <p:embeddedFont>
      <p:font typeface="Wingdings 2" panose="05020102010507070707" pitchFamily="18" charset="2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02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24" autoAdjust="0"/>
    <p:restoredTop sz="72954" autoAdjust="0"/>
  </p:normalViewPr>
  <p:slideViewPr>
    <p:cSldViewPr>
      <p:cViewPr varScale="1">
        <p:scale>
          <a:sx n="56" d="100"/>
          <a:sy n="56" d="100"/>
        </p:scale>
        <p:origin x="1290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5020F-7003-4703-AC9D-8EFB0C563F7C}" type="datetimeFigureOut">
              <a:rPr lang="bg-BG" smtClean="0"/>
              <a:t>8.5.2026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BA547-B606-40EB-B822-2FCF41B64F5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00157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 Уважаема комисия, уважаеми гости (ако има такива/или поименно – ако е еди</a:t>
            </a:r>
            <a:r>
              <a:rPr lang="bg-BG" dirty="0" smtClean="0"/>
              <a:t>н</a:t>
            </a:r>
            <a:r>
              <a:rPr lang="ru-RU" dirty="0" smtClean="0"/>
              <a:t> конкретен гост)</a:t>
            </a:r>
          </a:p>
          <a:p>
            <a:endParaRPr lang="ru-RU" dirty="0" smtClean="0"/>
          </a:p>
          <a:p>
            <a:r>
              <a:rPr lang="ru-RU" dirty="0" smtClean="0"/>
              <a:t>Аз съм Ива</a:t>
            </a:r>
            <a:r>
              <a:rPr lang="ru-RU" baseline="0" dirty="0" smtClean="0"/>
              <a:t> Колчагова</a:t>
            </a:r>
            <a:r>
              <a:rPr lang="ru-RU" dirty="0" smtClean="0"/>
              <a:t>.</a:t>
            </a:r>
          </a:p>
          <a:p>
            <a:r>
              <a:rPr lang="ru-RU" dirty="0" smtClean="0"/>
              <a:t>Темата на моят дипломен проект е „</a:t>
            </a:r>
            <a:r>
              <a:rPr lang="ru-RU" baseline="0" dirty="0" smtClean="0"/>
              <a:t>Класификация на изображения</a:t>
            </a:r>
            <a:r>
              <a:rPr lang="ru-RU" dirty="0" smtClean="0"/>
              <a:t>.‘‘</a:t>
            </a:r>
          </a:p>
          <a:p>
            <a:r>
              <a:rPr lang="bg-BG" dirty="0" smtClean="0"/>
              <a:t>Проектът</a:t>
            </a:r>
            <a:r>
              <a:rPr lang="bg-BG" baseline="0" dirty="0" smtClean="0"/>
              <a:t> представлява уеб приложение, което автоматично разпознава растителни видове с помощта на бързи и точни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12484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g-BG" dirty="0" smtClean="0"/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на разработката е да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ефективно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решение за разпознаване на растения чрез снимки, използвайки съвременни технологии в областта на изкуствения интелект. Проектът обединява сложни алгоритми за машинно обучение с практична уеб архитектура, приложима в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образованието,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екологията и агрономията.</a:t>
            </a:r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199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съвременния свят бързото разпознаване на флората е от ключово значение за специалисти и любители.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Създаденият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само класифицира изображенията с висока точност, но и работи достатъчно бързо, за да бъде интегриран в реално приложение. Стремях се да постигна баланс между сложността на невронната мрежа и ефективността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крайния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76454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Технологии и</a:t>
            </a:r>
            <a:r>
              <a:rPr lang="bg-BG" baseline="0" dirty="0" smtClean="0"/>
              <a:t> архитектура на модела</a:t>
            </a:r>
          </a:p>
          <a:p>
            <a:endParaRPr lang="bg-BG" baseline="0" dirty="0" smtClean="0"/>
          </a:p>
          <a:p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Конволюционните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невронни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мрежи,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dirty="0" smtClean="0"/>
              <a:t>CNN, </a:t>
            </a:r>
            <a:r>
              <a:rPr lang="ru-RU" dirty="0" err="1" smtClean="0"/>
              <a:t>са</a:t>
            </a:r>
            <a:r>
              <a:rPr lang="ru-RU" dirty="0" smtClean="0"/>
              <a:t> </a:t>
            </a:r>
            <a:r>
              <a:rPr lang="ru-RU" dirty="0" err="1" smtClean="0"/>
              <a:t>основата</a:t>
            </a:r>
            <a:r>
              <a:rPr lang="ru-RU" dirty="0" smtClean="0"/>
              <a:t> на </a:t>
            </a:r>
            <a:r>
              <a:rPr lang="ru-RU" dirty="0" err="1" smtClean="0"/>
              <a:t>модела</a:t>
            </a:r>
            <a:r>
              <a:rPr lang="ru-RU" dirty="0" smtClean="0"/>
              <a:t>, </a:t>
            </a:r>
            <a:r>
              <a:rPr lang="ru-RU" dirty="0" err="1" smtClean="0"/>
              <a:t>тъй</a:t>
            </a:r>
            <a:r>
              <a:rPr lang="ru-RU" dirty="0" smtClean="0"/>
              <a:t> </a:t>
            </a:r>
            <a:r>
              <a:rPr lang="ru-RU" dirty="0" err="1" smtClean="0"/>
              <a:t>като</a:t>
            </a:r>
            <a:r>
              <a:rPr lang="ru-RU" dirty="0" smtClean="0"/>
              <a:t> те </a:t>
            </a:r>
            <a:r>
              <a:rPr lang="ru-RU" dirty="0" err="1" smtClean="0"/>
              <a:t>могат</a:t>
            </a:r>
            <a:r>
              <a:rPr lang="ru-RU" dirty="0" smtClean="0"/>
              <a:t> автоматично да </a:t>
            </a:r>
            <a:r>
              <a:rPr lang="ru-RU" dirty="0" err="1" smtClean="0"/>
              <a:t>разпознават</a:t>
            </a:r>
            <a:r>
              <a:rPr lang="ru-RU" dirty="0" smtClean="0"/>
              <a:t> </a:t>
            </a:r>
            <a:r>
              <a:rPr lang="ru-RU" dirty="0" err="1" smtClean="0"/>
              <a:t>сложни</a:t>
            </a:r>
            <a:r>
              <a:rPr lang="ru-RU" dirty="0" smtClean="0"/>
              <a:t> </a:t>
            </a:r>
            <a:r>
              <a:rPr lang="ru-RU" dirty="0" err="1" smtClean="0"/>
              <a:t>визуални</a:t>
            </a:r>
            <a:r>
              <a:rPr lang="ru-RU" dirty="0" smtClean="0"/>
              <a:t> характеристики без </a:t>
            </a:r>
            <a:r>
              <a:rPr lang="ru-RU" dirty="0" err="1" smtClean="0"/>
              <a:t>ръчна</a:t>
            </a:r>
            <a:r>
              <a:rPr lang="ru-RU" dirty="0" smtClean="0"/>
              <a:t> </a:t>
            </a:r>
            <a:r>
              <a:rPr lang="ru-RU" dirty="0" err="1" smtClean="0"/>
              <a:t>намеса</a:t>
            </a:r>
            <a:r>
              <a:rPr lang="ru-RU" dirty="0" smtClean="0"/>
              <a:t>.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По-конкретно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използвах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архитектурата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MobileNetV2,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защото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тя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оптимизирана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мобилни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устройства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dirty="0" err="1" smtClean="0"/>
              <a:t>позволява</a:t>
            </a:r>
            <a:r>
              <a:rPr lang="ru-RU" dirty="0" smtClean="0"/>
              <a:t> </a:t>
            </a:r>
            <a:r>
              <a:rPr lang="ru-RU" dirty="0" err="1" smtClean="0"/>
              <a:t>бърза</a:t>
            </a:r>
            <a:r>
              <a:rPr lang="ru-RU" dirty="0" smtClean="0"/>
              <a:t> обработка без да се губи </a:t>
            </a:r>
            <a:r>
              <a:rPr lang="ru-RU" dirty="0" err="1" smtClean="0"/>
              <a:t>точност</a:t>
            </a:r>
            <a:r>
              <a:rPr lang="ru-RU" dirty="0" smtClean="0"/>
              <a:t>.“</a:t>
            </a:r>
            <a:endParaRPr lang="ru-RU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bg-BG" baseline="0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83172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Приложих метода </a:t>
            </a:r>
            <a:r>
              <a:rPr lang="ru-RU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Transfer Learning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(обучение чрез трансфер), като използвах предварително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обучени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модели и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адаптирах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 специфичните нужди на моя набор от данни за растения.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62679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Проекта</a:t>
            </a:r>
            <a:r>
              <a:rPr lang="bg-BG" baseline="0" dirty="0" smtClean="0"/>
              <a:t> е базиран на езика </a:t>
            </a:r>
            <a:r>
              <a:rPr lang="en-US" baseline="0" dirty="0" smtClean="0"/>
              <a:t>Python</a:t>
            </a:r>
            <a:r>
              <a:rPr lang="bg-BG" baseline="0" dirty="0" smtClean="0"/>
              <a:t>. Основната използвана библиотека е </a:t>
            </a:r>
            <a:r>
              <a:rPr lang="en-US" baseline="0" dirty="0" err="1" smtClean="0"/>
              <a:t>TensorFlow</a:t>
            </a:r>
            <a:r>
              <a:rPr lang="bg-BG" baseline="0" dirty="0" smtClean="0"/>
              <a:t>, която изчислява сложните математически изчисления</a:t>
            </a:r>
            <a:r>
              <a:rPr lang="en-US" baseline="0" dirty="0" smtClean="0"/>
              <a:t> </a:t>
            </a:r>
            <a:r>
              <a:rPr lang="bg-BG" baseline="0" dirty="0" smtClean="0"/>
              <a:t>на зададен план. Друга използвана библиотека е </a:t>
            </a:r>
            <a:r>
              <a:rPr lang="en-US" baseline="0" dirty="0" err="1" smtClean="0"/>
              <a:t>Keras</a:t>
            </a:r>
            <a:r>
              <a:rPr lang="en-US" baseline="0" dirty="0" smtClean="0"/>
              <a:t> </a:t>
            </a:r>
            <a:r>
              <a:rPr lang="bg-BG" baseline="0" dirty="0" smtClean="0"/>
              <a:t>- </a:t>
            </a:r>
            <a:r>
              <a:rPr lang="ru-RU" baseline="0" dirty="0" smtClean="0"/>
              <a:t>т</a:t>
            </a:r>
            <a:r>
              <a:rPr lang="ru-RU" dirty="0" smtClean="0"/>
              <a:t>я служи като интерфейс от високо ниво (API), който позволява на разработчиците бързо и лесно да изграждат, обучават и тестват невронни мрежи.</a:t>
            </a:r>
            <a:r>
              <a:rPr lang="bg-BG" baseline="0" dirty="0" smtClean="0"/>
              <a:t> </a:t>
            </a:r>
            <a:endParaRPr lang="bg-BG" dirty="0" smtClean="0"/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679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Използвах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софтуерната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рамка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за да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създам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-а /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сървърна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част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уебсайт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функционалностите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приложението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Той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обработва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потребителски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заявки и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комуникира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С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помощта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Django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REST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Framework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създадох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API /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приложно-програмен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интерфейс/ ,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който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позволява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обмен на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данни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между клиента и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сървъра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bg-BG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44329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постига висока точност и бързи </a:t>
            </a:r>
            <a:r>
              <a:rPr lang="ru-RU" dirty="0" smtClean="0"/>
              <a:t>резултати</a:t>
            </a:r>
            <a:r>
              <a:rPr lang="en-US" dirty="0" smtClean="0"/>
              <a:t>,</a:t>
            </a:r>
            <a:r>
              <a:rPr lang="bg-BG" dirty="0" smtClean="0"/>
              <a:t> като показва</a:t>
            </a:r>
            <a:r>
              <a:rPr lang="bg-BG" baseline="0" dirty="0" smtClean="0"/>
              <a:t> топ 3 варианта и процент на увереност</a:t>
            </a:r>
            <a:r>
              <a:rPr lang="ru-RU" dirty="0" smtClean="0"/>
              <a:t>. </a:t>
            </a:r>
            <a:r>
              <a:rPr lang="ru-RU" dirty="0" err="1" smtClean="0"/>
              <a:t>Приложението</a:t>
            </a:r>
            <a:r>
              <a:rPr lang="ru-RU" dirty="0" smtClean="0"/>
              <a:t> е </a:t>
            </a:r>
            <a:r>
              <a:rPr lang="ru-RU" dirty="0" err="1" smtClean="0"/>
              <a:t>лесно</a:t>
            </a:r>
            <a:r>
              <a:rPr lang="ru-RU" dirty="0" smtClean="0"/>
              <a:t> за </a:t>
            </a:r>
            <a:r>
              <a:rPr lang="ru-RU" dirty="0" err="1" smtClean="0"/>
              <a:t>използване</a:t>
            </a:r>
            <a:r>
              <a:rPr lang="ru-RU" dirty="0" smtClean="0"/>
              <a:t>, а </a:t>
            </a:r>
            <a:r>
              <a:rPr lang="ru-RU" dirty="0" err="1" smtClean="0"/>
              <a:t>интеграцията</a:t>
            </a:r>
            <a:r>
              <a:rPr lang="ru-RU" dirty="0" smtClean="0"/>
              <a:t> с </a:t>
            </a:r>
            <a:r>
              <a:rPr lang="ru-RU" dirty="0" err="1" smtClean="0"/>
              <a:t>Django</a:t>
            </a:r>
            <a:r>
              <a:rPr lang="ru-RU" dirty="0" smtClean="0"/>
              <a:t> </a:t>
            </a:r>
            <a:r>
              <a:rPr lang="ru-RU" dirty="0" err="1" smtClean="0"/>
              <a:t>прави</a:t>
            </a:r>
            <a:r>
              <a:rPr lang="ru-RU" dirty="0" smtClean="0"/>
              <a:t> AI </a:t>
            </a:r>
            <a:r>
              <a:rPr lang="ru-RU" dirty="0" err="1" smtClean="0"/>
              <a:t>модела</a:t>
            </a:r>
            <a:r>
              <a:rPr lang="ru-RU" dirty="0" smtClean="0"/>
              <a:t> </a:t>
            </a:r>
            <a:r>
              <a:rPr lang="ru-RU" dirty="0" err="1" smtClean="0"/>
              <a:t>достъпен</a:t>
            </a:r>
            <a:r>
              <a:rPr lang="ru-RU" dirty="0" smtClean="0"/>
              <a:t> за </a:t>
            </a:r>
            <a:r>
              <a:rPr lang="ru-RU" dirty="0" err="1" smtClean="0"/>
              <a:t>потребителите</a:t>
            </a:r>
            <a:r>
              <a:rPr lang="ru-RU" dirty="0" smtClean="0"/>
              <a:t>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288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Това</a:t>
            </a:r>
            <a:r>
              <a:rPr lang="bg-BG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 накратко моят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проект,</a:t>
            </a:r>
            <a:r>
              <a:rPr lang="ru-RU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който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доказа, че съвременните AI технологии могат успешно да се интегрират в достъпни уеб инструменти.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773447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изображение на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Контейнер за бележ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вниманието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Ако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имате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въпроси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съм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готова да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отговоря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  <a:endParaRPr lang="bg-BG" dirty="0"/>
          </a:p>
        </p:txBody>
      </p:sp>
      <p:sp>
        <p:nvSpPr>
          <p:cNvPr id="4" name="Контейнер за номер на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6BA547-B606-40EB-B822-2FCF41B64F5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7737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0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5" name="Rectangle 11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1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5" name="Rectangle 84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Rectangle 11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 80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5" name="Freeform 44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 51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Freeform 57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 67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68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9298192" y="-32266"/>
            <a:ext cx="7010400" cy="34693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6731" y="4062714"/>
            <a:ext cx="6626710" cy="2553240"/>
          </a:xfrm>
        </p:spPr>
        <p:txBody>
          <a:bodyPr>
            <a:normAutofit/>
          </a:bodyPr>
          <a:lstStyle>
            <a:lvl1pPr>
              <a:defRPr sz="6400"/>
            </a:lvl1pPr>
          </a:lstStyle>
          <a:p>
            <a:r>
              <a:rPr lang="bg-BG" smtClean="0"/>
              <a:t>Редакт. стил загл. образец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6731" y="6631621"/>
            <a:ext cx="6619606" cy="1890944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424242"/>
                </a:solidFill>
              </a:defRPr>
            </a:lvl1pPr>
            <a:lvl2pPr marL="8164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6328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4492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2656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082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8985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714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5313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bg-BG" smtClean="0"/>
              <a:t>Щракнете за редакция стил подзагл. обр.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477488" y="2275243"/>
            <a:ext cx="4267200" cy="1126472"/>
          </a:xfrm>
        </p:spPr>
        <p:txBody>
          <a:bodyPr anchor="b"/>
          <a:lstStyle>
            <a:lvl1pPr algn="l">
              <a:defRPr sz="4300"/>
            </a:lvl1pPr>
          </a:lstStyle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607040" y="8579950"/>
            <a:ext cx="5663184" cy="547688"/>
          </a:xfrm>
        </p:spPr>
        <p:txBody>
          <a:bodyPr>
            <a:norm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98192" y="8579950"/>
            <a:ext cx="1287332" cy="547688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лавка на секц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7290" y="4351244"/>
            <a:ext cx="13274936" cy="2043113"/>
          </a:xfrm>
        </p:spPr>
        <p:txBody>
          <a:bodyPr anchor="b"/>
          <a:lstStyle>
            <a:lvl1pPr algn="l">
              <a:defRPr sz="7100" b="0" cap="none" baseline="0"/>
            </a:lvl1pPr>
          </a:lstStyle>
          <a:p>
            <a:r>
              <a:rPr lang="bg-BG" smtClean="0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7291" y="6400801"/>
            <a:ext cx="13274934" cy="2280620"/>
          </a:xfrm>
        </p:spPr>
        <p:txBody>
          <a:bodyPr anchor="t"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816422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2pPr>
            <a:lvl3pPr marL="1632844" indent="0">
              <a:buNone/>
              <a:defRPr sz="2900">
                <a:solidFill>
                  <a:schemeClr val="tx1">
                    <a:tint val="75000"/>
                  </a:schemeClr>
                </a:solidFill>
              </a:defRPr>
            </a:lvl3pPr>
            <a:lvl4pPr marL="244926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4pPr>
            <a:lvl5pPr marL="3265688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5pPr>
            <a:lvl6pPr marL="408211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6pPr>
            <a:lvl7pPr marL="4898532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7pPr>
            <a:lvl8pPr marL="5714954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8pPr>
            <a:lvl9pPr marL="6531376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2084832" y="3470148"/>
            <a:ext cx="6839712" cy="5239512"/>
          </a:xfrm>
        </p:spPr>
        <p:txBody>
          <a:bodyPr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9290304" y="3470147"/>
            <a:ext cx="6839712" cy="5239512"/>
          </a:xfrm>
        </p:spPr>
        <p:txBody>
          <a:bodyPr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222" y="3474014"/>
            <a:ext cx="6114296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442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023675" y="3474015"/>
            <a:ext cx="6111434" cy="959643"/>
          </a:xfrm>
        </p:spPr>
        <p:txBody>
          <a:bodyPr anchor="b"/>
          <a:lstStyle>
            <a:lvl1pPr marL="0" indent="0">
              <a:buNone/>
              <a:defRPr sz="4300" b="1">
                <a:solidFill>
                  <a:schemeClr val="accent1"/>
                </a:solidFill>
              </a:defRPr>
            </a:lvl1pPr>
            <a:lvl2pPr marL="816422" indent="0">
              <a:buNone/>
              <a:defRPr sz="3600" b="1"/>
            </a:lvl2pPr>
            <a:lvl3pPr marL="1632844" indent="0">
              <a:buNone/>
              <a:defRPr sz="3200" b="1"/>
            </a:lvl3pPr>
            <a:lvl4pPr marL="2449266" indent="0">
              <a:buNone/>
              <a:defRPr sz="2900" b="1"/>
            </a:lvl4pPr>
            <a:lvl5pPr marL="3265688" indent="0">
              <a:buNone/>
              <a:defRPr sz="2900" b="1"/>
            </a:lvl5pPr>
            <a:lvl6pPr marL="4082110" indent="0">
              <a:buNone/>
              <a:defRPr sz="2900" b="1"/>
            </a:lvl6pPr>
            <a:lvl7pPr marL="4898532" indent="0">
              <a:buNone/>
              <a:defRPr sz="2900" b="1"/>
            </a:lvl7pPr>
            <a:lvl8pPr marL="5714954" indent="0">
              <a:buNone/>
              <a:defRPr sz="2900" b="1"/>
            </a:lvl8pPr>
            <a:lvl9pPr marL="6531376" indent="0">
              <a:buNone/>
              <a:defRPr sz="2900" b="1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90304" y="4462042"/>
            <a:ext cx="6839712" cy="4253696"/>
          </a:xfrm>
        </p:spPr>
        <p:txBody>
          <a:bodyPr/>
          <a:lstStyle>
            <a:lvl1pPr>
              <a:defRPr sz="4300"/>
            </a:lvl1pPr>
            <a:lvl2pPr>
              <a:defRPr sz="3600"/>
            </a:lvl2pPr>
            <a:lvl3pPr>
              <a:defRPr sz="3200"/>
            </a:lvl3pPr>
            <a:lvl4pPr>
              <a:defRPr sz="2900"/>
            </a:lvl4pPr>
            <a:lvl5pPr>
              <a:defRPr sz="2900"/>
            </a:lvl5pPr>
            <a:lvl6pPr>
              <a:defRPr sz="2900"/>
            </a:lvl6pPr>
            <a:lvl7pPr>
              <a:defRPr sz="2900"/>
            </a:lvl7pPr>
            <a:lvl8pPr>
              <a:defRPr sz="2900"/>
            </a:lvl8pPr>
            <a:lvl9pPr>
              <a:defRPr sz="29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разе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2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3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4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78" name="Rectangle 77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 78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 79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5" name="Rectangle 74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Rectangle 75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 76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7" name="Freeform 46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 50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Hexagon 54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Freeform 58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Hexagon 62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 69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 70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Rectangle 45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788" y="1284791"/>
            <a:ext cx="6180880" cy="7726101"/>
          </a:xfrm>
        </p:spPr>
        <p:txBody>
          <a:bodyPr/>
          <a:lstStyle>
            <a:lvl1pPr>
              <a:defRPr sz="4300"/>
            </a:lvl1pPr>
            <a:lvl2pPr>
              <a:defRPr sz="3900"/>
            </a:lvl2pPr>
            <a:lvl3pPr>
              <a:defRPr sz="3600"/>
            </a:lvl3pPr>
            <a:lvl4pPr>
              <a:defRPr sz="3200"/>
            </a:lvl4pPr>
            <a:lvl5pPr>
              <a:defRPr sz="29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61" name="Rectangle 60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79666" y="3986152"/>
            <a:ext cx="6609144" cy="219473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73184" y="6205491"/>
            <a:ext cx="6597568" cy="2276856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764808" y="0"/>
            <a:ext cx="19864664" cy="10287000"/>
            <a:chOff x="-382404" y="0"/>
            <a:chExt cx="9932332" cy="6858000"/>
          </a:xfrm>
        </p:grpSpPr>
        <p:grpSp>
          <p:nvGrpSpPr>
            <p:cNvPr id="45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75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87" name="Rectangle 8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6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84" name="Rectangle 83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 84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Rectangle 85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81" name="Rectangle 80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 81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 82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8" name="Rectangle 77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Rectangle 78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Freeform 45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 47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Hexagon 60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Hexagon 61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 62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Hexagon 63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Hexagon 64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Hexagon 65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Hexagon 66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Hexagon 67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Hexagon 68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Hexagon 69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Hexagon 70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Hexagon 71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 72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Freeform 73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4" name="Rectangle 93"/>
          <p:cNvSpPr/>
          <p:nvPr/>
        </p:nvSpPr>
        <p:spPr>
          <a:xfrm>
            <a:off x="9122484" y="-32267"/>
            <a:ext cx="7358232" cy="9407760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811143" y="902825"/>
            <a:ext cx="7124514" cy="8472668"/>
          </a:xfrm>
          <a:prstGeom prst="rect">
            <a:avLst/>
          </a:prstGeom>
          <a:solidFill>
            <a:srgbClr val="FFFFFF"/>
          </a:solidFill>
          <a:ln w="3175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9301778" y="9132426"/>
            <a:ext cx="7010400" cy="1226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8848" y="3991356"/>
            <a:ext cx="6601968" cy="2194560"/>
          </a:xfrm>
        </p:spPr>
        <p:txBody>
          <a:bodyPr anchor="b">
            <a:normAutofit/>
          </a:bodyPr>
          <a:lstStyle>
            <a:lvl1pPr algn="l">
              <a:defRPr sz="5000" b="0"/>
            </a:lvl1pPr>
          </a:lstStyle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10417" y="1040693"/>
            <a:ext cx="6719246" cy="8202168"/>
          </a:xfrm>
        </p:spPr>
        <p:txBody>
          <a:bodyPr/>
          <a:lstStyle>
            <a:lvl1pPr marL="0" indent="0">
              <a:buNone/>
              <a:defRPr sz="5700">
                <a:solidFill>
                  <a:schemeClr val="accent1"/>
                </a:solidFill>
              </a:defRPr>
            </a:lvl1pPr>
            <a:lvl2pPr marL="816422" indent="0">
              <a:buNone/>
              <a:defRPr sz="5000"/>
            </a:lvl2pPr>
            <a:lvl3pPr marL="1632844" indent="0">
              <a:buNone/>
              <a:defRPr sz="4300"/>
            </a:lvl3pPr>
            <a:lvl4pPr marL="2449266" indent="0">
              <a:buNone/>
              <a:defRPr sz="3600"/>
            </a:lvl4pPr>
            <a:lvl5pPr marL="3265688" indent="0">
              <a:buNone/>
              <a:defRPr sz="3600"/>
            </a:lvl5pPr>
            <a:lvl6pPr marL="4082110" indent="0">
              <a:buNone/>
              <a:defRPr sz="3600"/>
            </a:lvl6pPr>
            <a:lvl7pPr marL="4898532" indent="0">
              <a:buNone/>
              <a:defRPr sz="3600"/>
            </a:lvl7pPr>
            <a:lvl8pPr marL="5714954" indent="0">
              <a:buNone/>
              <a:defRPr sz="3600"/>
            </a:lvl8pPr>
            <a:lvl9pPr marL="6531376" indent="0">
              <a:buNone/>
              <a:defRPr sz="3600"/>
            </a:lvl9pPr>
          </a:lstStyle>
          <a:p>
            <a:r>
              <a:rPr lang="bg-BG" smtClean="0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69261" y="6199633"/>
            <a:ext cx="6601146" cy="2279342"/>
          </a:xfrm>
        </p:spPr>
        <p:txBody>
          <a:bodyPr>
            <a:normAutofit/>
          </a:bodyPr>
          <a:lstStyle>
            <a:lvl1pPr marL="0" indent="0">
              <a:buNone/>
              <a:defRPr sz="2900">
                <a:solidFill>
                  <a:srgbClr val="424242"/>
                </a:solidFill>
              </a:defRPr>
            </a:lvl1pPr>
            <a:lvl2pPr marL="816422" indent="0">
              <a:buNone/>
              <a:defRPr sz="2100"/>
            </a:lvl2pPr>
            <a:lvl3pPr marL="1632844" indent="0">
              <a:buNone/>
              <a:defRPr sz="1800"/>
            </a:lvl3pPr>
            <a:lvl4pPr marL="2449266" indent="0">
              <a:buNone/>
              <a:defRPr sz="1600"/>
            </a:lvl4pPr>
            <a:lvl5pPr marL="3265688" indent="0">
              <a:buNone/>
              <a:defRPr sz="1600"/>
            </a:lvl5pPr>
            <a:lvl6pPr marL="4082110" indent="0">
              <a:buNone/>
              <a:defRPr sz="1600"/>
            </a:lvl6pPr>
            <a:lvl7pPr marL="4898532" indent="0">
              <a:buNone/>
              <a:defRPr sz="1600"/>
            </a:lvl7pPr>
            <a:lvl8pPr marL="5714954" indent="0">
              <a:buNone/>
              <a:defRPr sz="1600"/>
            </a:lvl8pPr>
            <a:lvl9pPr marL="6531376" indent="0">
              <a:buNone/>
              <a:defRPr sz="1600"/>
            </a:lvl9pPr>
          </a:lstStyle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282896" y="8587253"/>
            <a:ext cx="6987328" cy="547688"/>
          </a:xfr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лавие и вертикален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но заглавие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258801" y="1545221"/>
            <a:ext cx="2968906" cy="7170516"/>
          </a:xfrm>
        </p:spPr>
        <p:txBody>
          <a:bodyPr vert="eaVert" anchor="ctr"/>
          <a:lstStyle/>
          <a:p>
            <a:r>
              <a:rPr lang="bg-BG" smtClean="0"/>
              <a:t>Редакт. стил загл. образец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6592" y="1545221"/>
            <a:ext cx="10847408" cy="7170516"/>
          </a:xfrm>
        </p:spPr>
        <p:txBody>
          <a:bodyPr vert="eaVert"/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-609600" y="0"/>
            <a:ext cx="19864664" cy="10287000"/>
            <a:chOff x="-382404" y="0"/>
            <a:chExt cx="9932332" cy="6858000"/>
          </a:xfrm>
        </p:grpSpPr>
        <p:grpSp>
          <p:nvGrpSpPr>
            <p:cNvPr id="43" name="Group 44"/>
            <p:cNvGrpSpPr/>
            <p:nvPr/>
          </p:nvGrpSpPr>
          <p:grpSpPr>
            <a:xfrm>
              <a:off x="0" y="0"/>
              <a:ext cx="9144000" cy="6858000"/>
              <a:chOff x="0" y="0"/>
              <a:chExt cx="9144000" cy="6858000"/>
            </a:xfrm>
          </p:grpSpPr>
          <p:grpSp>
            <p:nvGrpSpPr>
              <p:cNvPr id="101" name="Group 4"/>
              <p:cNvGrpSpPr/>
              <p:nvPr/>
            </p:nvGrpSpPr>
            <p:grpSpPr>
              <a:xfrm>
                <a:off x="0" y="0"/>
                <a:ext cx="2514600" cy="6858000"/>
                <a:chOff x="0" y="0"/>
                <a:chExt cx="2514600" cy="6858000"/>
              </a:xfrm>
            </p:grpSpPr>
            <p:sp>
              <p:nvSpPr>
                <p:cNvPr id="113" name="Rectangle 112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Rectangle 2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Rectangle 3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2" name="Group 5"/>
              <p:cNvGrpSpPr/>
              <p:nvPr/>
            </p:nvGrpSpPr>
            <p:grpSpPr>
              <a:xfrm>
                <a:off x="422910" y="0"/>
                <a:ext cx="2514600" cy="6858000"/>
                <a:chOff x="0" y="0"/>
                <a:chExt cx="2514600" cy="6858000"/>
              </a:xfrm>
            </p:grpSpPr>
            <p:sp>
              <p:nvSpPr>
                <p:cNvPr id="110" name="Rectangle 109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 110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 111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3" name="Group 9"/>
              <p:cNvGrpSpPr/>
              <p:nvPr/>
            </p:nvGrpSpPr>
            <p:grpSpPr>
              <a:xfrm rot="10800000">
                <a:off x="6629400" y="0"/>
                <a:ext cx="2514600" cy="6858000"/>
                <a:chOff x="0" y="0"/>
                <a:chExt cx="2514600" cy="6858000"/>
              </a:xfrm>
            </p:grpSpPr>
            <p:sp>
              <p:nvSpPr>
                <p:cNvPr id="107" name="Rectangle 106"/>
                <p:cNvSpPr/>
                <p:nvPr/>
              </p:nvSpPr>
              <p:spPr>
                <a:xfrm>
                  <a:off x="914400" y="0"/>
                  <a:ext cx="1600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/>
                <p:cNvSpPr/>
                <p:nvPr/>
              </p:nvSpPr>
              <p:spPr>
                <a:xfrm>
                  <a:off x="0" y="0"/>
                  <a:ext cx="4572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 108"/>
                <p:cNvSpPr/>
                <p:nvPr/>
              </p:nvSpPr>
              <p:spPr>
                <a:xfrm>
                  <a:off x="228600" y="0"/>
                  <a:ext cx="762000" cy="6858000"/>
                </a:xfrm>
                <a:prstGeom prst="rect">
                  <a:avLst/>
                </a:prstGeom>
                <a:solidFill>
                  <a:schemeClr val="bg1">
                    <a:alpha val="1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4" name="Rectangle 103"/>
              <p:cNvSpPr/>
              <p:nvPr/>
            </p:nvSpPr>
            <p:spPr>
              <a:xfrm>
                <a:off x="3810000" y="0"/>
                <a:ext cx="28194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/>
              <p:cNvSpPr/>
              <p:nvPr/>
            </p:nvSpPr>
            <p:spPr>
              <a:xfrm>
                <a:off x="2895600" y="0"/>
                <a:ext cx="4572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/>
              <p:cNvSpPr/>
              <p:nvPr/>
            </p:nvSpPr>
            <p:spPr>
              <a:xfrm>
                <a:off x="3124200" y="0"/>
                <a:ext cx="762000" cy="6858000"/>
              </a:xfrm>
              <a:prstGeom prst="rect">
                <a:avLst/>
              </a:prstGeom>
              <a:solidFill>
                <a:schemeClr val="bg1">
                  <a:alpha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4" name="Freeform 43"/>
            <p:cNvSpPr/>
            <p:nvPr/>
          </p:nvSpPr>
          <p:spPr>
            <a:xfrm>
              <a:off x="-11875" y="5035138"/>
              <a:ext cx="9144000" cy="1175655"/>
            </a:xfrm>
            <a:custGeom>
              <a:avLst/>
              <a:gdLst>
                <a:gd name="connsiteX0" fmla="*/ 0 w 9144000"/>
                <a:gd name="connsiteY0" fmla="*/ 1116280 h 1175656"/>
                <a:gd name="connsiteX1" fmla="*/ 1674420 w 9144000"/>
                <a:gd name="connsiteY1" fmla="*/ 1163781 h 1175656"/>
                <a:gd name="connsiteX2" fmla="*/ 4120737 w 9144000"/>
                <a:gd name="connsiteY2" fmla="*/ 1045028 h 1175656"/>
                <a:gd name="connsiteX3" fmla="*/ 7172696 w 9144000"/>
                <a:gd name="connsiteY3" fmla="*/ 605641 h 1175656"/>
                <a:gd name="connsiteX4" fmla="*/ 9144000 w 9144000"/>
                <a:gd name="connsiteY4" fmla="*/ 0 h 1175656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270659 h 1330035"/>
                <a:gd name="connsiteX1" fmla="*/ 1674420 w 9144000"/>
                <a:gd name="connsiteY1" fmla="*/ 1318160 h 1330035"/>
                <a:gd name="connsiteX2" fmla="*/ 4120737 w 9144000"/>
                <a:gd name="connsiteY2" fmla="*/ 1199407 h 1330035"/>
                <a:gd name="connsiteX3" fmla="*/ 7172696 w 9144000"/>
                <a:gd name="connsiteY3" fmla="*/ 760020 h 1330035"/>
                <a:gd name="connsiteX4" fmla="*/ 9144000 w 9144000"/>
                <a:gd name="connsiteY4" fmla="*/ 0 h 1330035"/>
                <a:gd name="connsiteX0" fmla="*/ 0 w 9144000"/>
                <a:gd name="connsiteY0" fmla="*/ 1116279 h 1175655"/>
                <a:gd name="connsiteX1" fmla="*/ 1674420 w 9144000"/>
                <a:gd name="connsiteY1" fmla="*/ 1163780 h 1175655"/>
                <a:gd name="connsiteX2" fmla="*/ 4120737 w 9144000"/>
                <a:gd name="connsiteY2" fmla="*/ 1045027 h 1175655"/>
                <a:gd name="connsiteX3" fmla="*/ 7172696 w 9144000"/>
                <a:gd name="connsiteY3" fmla="*/ 605640 h 1175655"/>
                <a:gd name="connsiteX4" fmla="*/ 9144000 w 9144000"/>
                <a:gd name="connsiteY4" fmla="*/ 0 h 117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1175655">
                  <a:moveTo>
                    <a:pt x="0" y="1116279"/>
                  </a:moveTo>
                  <a:cubicBezTo>
                    <a:pt x="493815" y="1145967"/>
                    <a:pt x="987631" y="1175655"/>
                    <a:pt x="1674420" y="1163780"/>
                  </a:cubicBezTo>
                  <a:cubicBezTo>
                    <a:pt x="2361209" y="1151905"/>
                    <a:pt x="3204358" y="1138050"/>
                    <a:pt x="4120737" y="1045027"/>
                  </a:cubicBezTo>
                  <a:cubicBezTo>
                    <a:pt x="5037116" y="952004"/>
                    <a:pt x="6335486" y="779811"/>
                    <a:pt x="7172696" y="605640"/>
                  </a:cubicBezTo>
                  <a:cubicBezTo>
                    <a:pt x="8009907" y="431469"/>
                    <a:pt x="8866910" y="154379"/>
                    <a:pt x="9144000" y="0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 44"/>
            <p:cNvSpPr/>
            <p:nvPr/>
          </p:nvSpPr>
          <p:spPr>
            <a:xfrm>
              <a:off x="-11875" y="3467595"/>
              <a:ext cx="9144000" cy="890650"/>
            </a:xfrm>
            <a:custGeom>
              <a:avLst/>
              <a:gdLst>
                <a:gd name="connsiteX0" fmla="*/ 0 w 9144000"/>
                <a:gd name="connsiteY0" fmla="*/ 890650 h 890650"/>
                <a:gd name="connsiteX1" fmla="*/ 1045028 w 9144000"/>
                <a:gd name="connsiteY1" fmla="*/ 475013 h 890650"/>
                <a:gd name="connsiteX2" fmla="*/ 3111335 w 9144000"/>
                <a:gd name="connsiteY2" fmla="*/ 71252 h 890650"/>
                <a:gd name="connsiteX3" fmla="*/ 5913911 w 9144000"/>
                <a:gd name="connsiteY3" fmla="*/ 71252 h 890650"/>
                <a:gd name="connsiteX4" fmla="*/ 9144000 w 9144000"/>
                <a:gd name="connsiteY4" fmla="*/ 498764 h 89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44000" h="890650">
                  <a:moveTo>
                    <a:pt x="0" y="890650"/>
                  </a:moveTo>
                  <a:cubicBezTo>
                    <a:pt x="263236" y="751114"/>
                    <a:pt x="526472" y="611579"/>
                    <a:pt x="1045028" y="475013"/>
                  </a:cubicBezTo>
                  <a:cubicBezTo>
                    <a:pt x="1563584" y="338447"/>
                    <a:pt x="2299855" y="138545"/>
                    <a:pt x="3111335" y="71252"/>
                  </a:cubicBezTo>
                  <a:cubicBezTo>
                    <a:pt x="3922815" y="3959"/>
                    <a:pt x="4908467" y="0"/>
                    <a:pt x="5913911" y="71252"/>
                  </a:cubicBezTo>
                  <a:cubicBezTo>
                    <a:pt x="6919355" y="142504"/>
                    <a:pt x="8595756" y="427512"/>
                    <a:pt x="9144000" y="498764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/>
            <p:cNvSpPr/>
            <p:nvPr/>
          </p:nvSpPr>
          <p:spPr>
            <a:xfrm>
              <a:off x="-23751" y="5640779"/>
              <a:ext cx="3004457" cy="1211283"/>
            </a:xfrm>
            <a:custGeom>
              <a:avLst/>
              <a:gdLst>
                <a:gd name="connsiteX0" fmla="*/ 0 w 3004457"/>
                <a:gd name="connsiteY0" fmla="*/ 0 h 1211283"/>
                <a:gd name="connsiteX1" fmla="*/ 3004457 w 3004457"/>
                <a:gd name="connsiteY1" fmla="*/ 1211283 h 1211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04457" h="1211283">
                  <a:moveTo>
                    <a:pt x="0" y="0"/>
                  </a:moveTo>
                  <a:cubicBezTo>
                    <a:pt x="1103415" y="501732"/>
                    <a:pt x="2206831" y="1003465"/>
                    <a:pt x="3004457" y="1211283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/>
            <p:cNvSpPr/>
            <p:nvPr/>
          </p:nvSpPr>
          <p:spPr>
            <a:xfrm>
              <a:off x="-11875" y="5284519"/>
              <a:ext cx="9144000" cy="1478478"/>
            </a:xfrm>
            <a:custGeom>
              <a:avLst/>
              <a:gdLst>
                <a:gd name="connsiteX0" fmla="*/ 0 w 9144000"/>
                <a:gd name="connsiteY0" fmla="*/ 0 h 1478478"/>
                <a:gd name="connsiteX1" fmla="*/ 1104405 w 9144000"/>
                <a:gd name="connsiteY1" fmla="*/ 344385 h 1478478"/>
                <a:gd name="connsiteX2" fmla="*/ 3194462 w 9144000"/>
                <a:gd name="connsiteY2" fmla="*/ 866899 h 1478478"/>
                <a:gd name="connsiteX3" fmla="*/ 5676405 w 9144000"/>
                <a:gd name="connsiteY3" fmla="*/ 1282536 h 1478478"/>
                <a:gd name="connsiteX4" fmla="*/ 7730836 w 9144000"/>
                <a:gd name="connsiteY4" fmla="*/ 1448790 h 1478478"/>
                <a:gd name="connsiteX5" fmla="*/ 8573984 w 9144000"/>
                <a:gd name="connsiteY5" fmla="*/ 1460665 h 1478478"/>
                <a:gd name="connsiteX6" fmla="*/ 9144000 w 9144000"/>
                <a:gd name="connsiteY6" fmla="*/ 1425039 h 147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144000" h="1478478">
                  <a:moveTo>
                    <a:pt x="0" y="0"/>
                  </a:moveTo>
                  <a:cubicBezTo>
                    <a:pt x="285997" y="99951"/>
                    <a:pt x="571995" y="199902"/>
                    <a:pt x="1104405" y="344385"/>
                  </a:cubicBezTo>
                  <a:cubicBezTo>
                    <a:pt x="1636815" y="488868"/>
                    <a:pt x="2432462" y="710541"/>
                    <a:pt x="3194462" y="866899"/>
                  </a:cubicBezTo>
                  <a:cubicBezTo>
                    <a:pt x="3956462" y="1023258"/>
                    <a:pt x="4920343" y="1185554"/>
                    <a:pt x="5676405" y="1282536"/>
                  </a:cubicBezTo>
                  <a:cubicBezTo>
                    <a:pt x="6432467" y="1379518"/>
                    <a:pt x="7247906" y="1419102"/>
                    <a:pt x="7730836" y="1448790"/>
                  </a:cubicBezTo>
                  <a:cubicBezTo>
                    <a:pt x="8213766" y="1478478"/>
                    <a:pt x="8338457" y="1464623"/>
                    <a:pt x="8573984" y="1460665"/>
                  </a:cubicBezTo>
                  <a:cubicBezTo>
                    <a:pt x="8809511" y="1456707"/>
                    <a:pt x="8976755" y="1440873"/>
                    <a:pt x="9144000" y="1425039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reeform 48"/>
            <p:cNvSpPr/>
            <p:nvPr/>
          </p:nvSpPr>
          <p:spPr>
            <a:xfrm>
              <a:off x="2137558" y="5132120"/>
              <a:ext cx="6982691" cy="1719942"/>
            </a:xfrm>
            <a:custGeom>
              <a:avLst/>
              <a:gdLst>
                <a:gd name="connsiteX0" fmla="*/ 0 w 6982691"/>
                <a:gd name="connsiteY0" fmla="*/ 1719942 h 1719942"/>
                <a:gd name="connsiteX1" fmla="*/ 546265 w 6982691"/>
                <a:gd name="connsiteY1" fmla="*/ 1185553 h 1719942"/>
                <a:gd name="connsiteX2" fmla="*/ 1330037 w 6982691"/>
                <a:gd name="connsiteY2" fmla="*/ 710540 h 1719942"/>
                <a:gd name="connsiteX3" fmla="*/ 2078182 w 6982691"/>
                <a:gd name="connsiteY3" fmla="*/ 437407 h 1719942"/>
                <a:gd name="connsiteX4" fmla="*/ 3348842 w 6982691"/>
                <a:gd name="connsiteY4" fmla="*/ 152399 h 1719942"/>
                <a:gd name="connsiteX5" fmla="*/ 4001985 w 6982691"/>
                <a:gd name="connsiteY5" fmla="*/ 69272 h 1719942"/>
                <a:gd name="connsiteX6" fmla="*/ 5047013 w 6982691"/>
                <a:gd name="connsiteY6" fmla="*/ 9896 h 1719942"/>
                <a:gd name="connsiteX7" fmla="*/ 5890161 w 6982691"/>
                <a:gd name="connsiteY7" fmla="*/ 9896 h 1719942"/>
                <a:gd name="connsiteX8" fmla="*/ 6495803 w 6982691"/>
                <a:gd name="connsiteY8" fmla="*/ 9896 h 1719942"/>
                <a:gd name="connsiteX9" fmla="*/ 6899564 w 6982691"/>
                <a:gd name="connsiteY9" fmla="*/ 33646 h 1719942"/>
                <a:gd name="connsiteX10" fmla="*/ 6982691 w 6982691"/>
                <a:gd name="connsiteY10" fmla="*/ 45522 h 1719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82691" h="1719942">
                  <a:moveTo>
                    <a:pt x="0" y="1719942"/>
                  </a:moveTo>
                  <a:cubicBezTo>
                    <a:pt x="162296" y="1536864"/>
                    <a:pt x="324592" y="1353787"/>
                    <a:pt x="546265" y="1185553"/>
                  </a:cubicBezTo>
                  <a:cubicBezTo>
                    <a:pt x="767938" y="1017319"/>
                    <a:pt x="1074718" y="835231"/>
                    <a:pt x="1330037" y="710540"/>
                  </a:cubicBezTo>
                  <a:cubicBezTo>
                    <a:pt x="1585356" y="585849"/>
                    <a:pt x="1741715" y="530430"/>
                    <a:pt x="2078182" y="437407"/>
                  </a:cubicBezTo>
                  <a:cubicBezTo>
                    <a:pt x="2414649" y="344384"/>
                    <a:pt x="3028208" y="213755"/>
                    <a:pt x="3348842" y="152399"/>
                  </a:cubicBezTo>
                  <a:cubicBezTo>
                    <a:pt x="3669476" y="91043"/>
                    <a:pt x="3718957" y="93022"/>
                    <a:pt x="4001985" y="69272"/>
                  </a:cubicBezTo>
                  <a:cubicBezTo>
                    <a:pt x="4285013" y="45522"/>
                    <a:pt x="4732317" y="19792"/>
                    <a:pt x="5047013" y="9896"/>
                  </a:cubicBezTo>
                  <a:cubicBezTo>
                    <a:pt x="5361709" y="0"/>
                    <a:pt x="5890161" y="9896"/>
                    <a:pt x="5890161" y="9896"/>
                  </a:cubicBezTo>
                  <a:lnTo>
                    <a:pt x="6495803" y="9896"/>
                  </a:lnTo>
                  <a:cubicBezTo>
                    <a:pt x="6664037" y="13854"/>
                    <a:pt x="6818416" y="27708"/>
                    <a:pt x="6899564" y="33646"/>
                  </a:cubicBezTo>
                  <a:cubicBezTo>
                    <a:pt x="6980712" y="39584"/>
                    <a:pt x="6953003" y="37605"/>
                    <a:pt x="6982691" y="45522"/>
                  </a:cubicBezTo>
                </a:path>
              </a:pathLst>
            </a:custGeom>
            <a:ln w="6350">
              <a:solidFill>
                <a:schemeClr val="bg1">
                  <a:alpha val="2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Hexagon 49"/>
            <p:cNvSpPr/>
            <p:nvPr/>
          </p:nvSpPr>
          <p:spPr>
            <a:xfrm rot="1800000">
              <a:off x="2996165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Hexagon 50"/>
            <p:cNvSpPr/>
            <p:nvPr/>
          </p:nvSpPr>
          <p:spPr>
            <a:xfrm rot="1800000">
              <a:off x="3720065" y="41260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Hexagon 51"/>
            <p:cNvSpPr/>
            <p:nvPr/>
          </p:nvSpPr>
          <p:spPr>
            <a:xfrm rot="1800000">
              <a:off x="3729591" y="159242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Hexagon 52"/>
            <p:cNvSpPr/>
            <p:nvPr/>
          </p:nvSpPr>
          <p:spPr>
            <a:xfrm rot="1800000">
              <a:off x="2977115" y="32560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Hexagon 53"/>
            <p:cNvSpPr/>
            <p:nvPr/>
          </p:nvSpPr>
          <p:spPr>
            <a:xfrm rot="1800000">
              <a:off x="4463014" y="53833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6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Freeform 54"/>
            <p:cNvSpPr/>
            <p:nvPr/>
          </p:nvSpPr>
          <p:spPr>
            <a:xfrm rot="1800000">
              <a:off x="-382404" y="4201528"/>
              <a:ext cx="1261499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56357 w 1261499"/>
                <a:gd name="connsiteY5" fmla="*/ 1388236 h 1388236"/>
                <a:gd name="connsiteX6" fmla="*/ 0 w 1261499"/>
                <a:gd name="connsiteY6" fmla="*/ 105098 h 1388236"/>
                <a:gd name="connsiteX0" fmla="*/ 0 w 1261499"/>
                <a:gd name="connsiteY0" fmla="*/ 105098 h 1388236"/>
                <a:gd name="connsiteX1" fmla="*/ 56357 w 1261499"/>
                <a:gd name="connsiteY1" fmla="*/ 0 h 1388236"/>
                <a:gd name="connsiteX2" fmla="*/ 865241 w 1261499"/>
                <a:gd name="connsiteY2" fmla="*/ 0 h 1388236"/>
                <a:gd name="connsiteX3" fmla="*/ 1261499 w 1261499"/>
                <a:gd name="connsiteY3" fmla="*/ 694118 h 1388236"/>
                <a:gd name="connsiteX4" fmla="*/ 865241 w 1261499"/>
                <a:gd name="connsiteY4" fmla="*/ 1388236 h 1388236"/>
                <a:gd name="connsiteX5" fmla="*/ 744578 w 1261499"/>
                <a:gd name="connsiteY5" fmla="*/ 1387893 h 1388236"/>
                <a:gd name="connsiteX6" fmla="*/ 0 w 1261499"/>
                <a:gd name="connsiteY6" fmla="*/ 10509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61499" h="1388236">
                  <a:moveTo>
                    <a:pt x="0" y="105098"/>
                  </a:moveTo>
                  <a:lnTo>
                    <a:pt x="56357" y="0"/>
                  </a:lnTo>
                  <a:lnTo>
                    <a:pt x="865241" y="0"/>
                  </a:lnTo>
                  <a:lnTo>
                    <a:pt x="1261499" y="694118"/>
                  </a:lnTo>
                  <a:lnTo>
                    <a:pt x="865241" y="1388236"/>
                  </a:lnTo>
                  <a:lnTo>
                    <a:pt x="744578" y="1387893"/>
                  </a:lnTo>
                  <a:lnTo>
                    <a:pt x="0" y="105098"/>
                  </a:ln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/>
            <p:cNvSpPr/>
            <p:nvPr/>
          </p:nvSpPr>
          <p:spPr>
            <a:xfrm rot="1800000">
              <a:off x="24365" y="540242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Hexagon 56"/>
            <p:cNvSpPr/>
            <p:nvPr/>
          </p:nvSpPr>
          <p:spPr>
            <a:xfrm rot="1800000">
              <a:off x="52941" y="28497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Hexagon 57"/>
            <p:cNvSpPr/>
            <p:nvPr/>
          </p:nvSpPr>
          <p:spPr>
            <a:xfrm rot="1800000">
              <a:off x="776840" y="4126077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Hexagon 58"/>
            <p:cNvSpPr/>
            <p:nvPr/>
          </p:nvSpPr>
          <p:spPr>
            <a:xfrm rot="1800000">
              <a:off x="1510265" y="54119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Hexagon 59"/>
            <p:cNvSpPr/>
            <p:nvPr/>
          </p:nvSpPr>
          <p:spPr>
            <a:xfrm rot="1800000">
              <a:off x="1529316" y="2859252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Hexagon 94"/>
            <p:cNvSpPr/>
            <p:nvPr/>
          </p:nvSpPr>
          <p:spPr>
            <a:xfrm rot="1800000">
              <a:off x="795890" y="1563853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/>
            <p:cNvSpPr/>
            <p:nvPr/>
          </p:nvSpPr>
          <p:spPr>
            <a:xfrm rot="1800000">
              <a:off x="6806166" y="414512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10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/>
            <p:cNvSpPr/>
            <p:nvPr/>
          </p:nvSpPr>
          <p:spPr>
            <a:xfrm rot="1800000">
              <a:off x="7549116" y="5421479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Hexagon 97"/>
            <p:cNvSpPr/>
            <p:nvPr/>
          </p:nvSpPr>
          <p:spPr>
            <a:xfrm rot="1800000">
              <a:off x="7549117" y="2868778"/>
              <a:ext cx="1601400" cy="1388236"/>
            </a:xfrm>
            <a:prstGeom prst="hexagon">
              <a:avLst>
                <a:gd name="adj" fmla="val 28544"/>
                <a:gd name="vf" fmla="val 115470"/>
              </a:avLst>
            </a:prstGeom>
            <a:solidFill>
              <a:schemeClr val="bg1">
                <a:alpha val="7000"/>
              </a:schemeClr>
            </a:solidFill>
            <a:ln w="12700">
              <a:solidFill>
                <a:schemeClr val="bg1">
                  <a:alpha val="8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Freeform 98"/>
            <p:cNvSpPr/>
            <p:nvPr/>
          </p:nvSpPr>
          <p:spPr>
            <a:xfrm rot="1800000">
              <a:off x="8306521" y="4055629"/>
              <a:ext cx="1243407" cy="1388236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474029 w 1601400"/>
                <a:gd name="connsiteY2" fmla="*/ 4016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243407"/>
                <a:gd name="connsiteY0" fmla="*/ 694118 h 1388236"/>
                <a:gd name="connsiteX1" fmla="*/ 396258 w 1243407"/>
                <a:gd name="connsiteY1" fmla="*/ 0 h 1388236"/>
                <a:gd name="connsiteX2" fmla="*/ 474029 w 1243407"/>
                <a:gd name="connsiteY2" fmla="*/ 4016 h 1388236"/>
                <a:gd name="connsiteX3" fmla="*/ 1243407 w 1243407"/>
                <a:gd name="connsiteY3" fmla="*/ 1325983 h 1388236"/>
                <a:gd name="connsiteX4" fmla="*/ 1205142 w 1243407"/>
                <a:gd name="connsiteY4" fmla="*/ 1388236 h 1388236"/>
                <a:gd name="connsiteX5" fmla="*/ 396258 w 1243407"/>
                <a:gd name="connsiteY5" fmla="*/ 1388236 h 1388236"/>
                <a:gd name="connsiteX6" fmla="*/ 0 w 1243407"/>
                <a:gd name="connsiteY6" fmla="*/ 694118 h 138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3407" h="1388236">
                  <a:moveTo>
                    <a:pt x="0" y="694118"/>
                  </a:moveTo>
                  <a:lnTo>
                    <a:pt x="396258" y="0"/>
                  </a:lnTo>
                  <a:lnTo>
                    <a:pt x="474029" y="4016"/>
                  </a:lnTo>
                  <a:lnTo>
                    <a:pt x="1243407" y="1325983"/>
                  </a:lnTo>
                  <a:lnTo>
                    <a:pt x="1205142" y="1388236"/>
                  </a:lnTo>
                  <a:lnTo>
                    <a:pt x="396258" y="1388236"/>
                  </a:lnTo>
                  <a:lnTo>
                    <a:pt x="0" y="694118"/>
                  </a:lnTo>
                  <a:close/>
                </a:path>
              </a:pathLst>
            </a:custGeom>
            <a:solidFill>
              <a:schemeClr val="bg1">
                <a:alpha val="400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 99"/>
            <p:cNvSpPr/>
            <p:nvPr/>
          </p:nvSpPr>
          <p:spPr>
            <a:xfrm rot="1800000">
              <a:off x="8306771" y="1511524"/>
              <a:ext cx="1241871" cy="1388822"/>
            </a:xfrm>
            <a:custGeom>
              <a:avLst/>
              <a:gdLst>
                <a:gd name="connsiteX0" fmla="*/ 0 w 1601400"/>
                <a:gd name="connsiteY0" fmla="*/ 694118 h 1388236"/>
                <a:gd name="connsiteX1" fmla="*/ 396258 w 1601400"/>
                <a:gd name="connsiteY1" fmla="*/ 0 h 1388236"/>
                <a:gd name="connsiteX2" fmla="*/ 1205142 w 1601400"/>
                <a:gd name="connsiteY2" fmla="*/ 0 h 1388236"/>
                <a:gd name="connsiteX3" fmla="*/ 1601400 w 1601400"/>
                <a:gd name="connsiteY3" fmla="*/ 694118 h 1388236"/>
                <a:gd name="connsiteX4" fmla="*/ 1205142 w 1601400"/>
                <a:gd name="connsiteY4" fmla="*/ 1388236 h 1388236"/>
                <a:gd name="connsiteX5" fmla="*/ 396258 w 1601400"/>
                <a:gd name="connsiteY5" fmla="*/ 1388236 h 1388236"/>
                <a:gd name="connsiteX6" fmla="*/ 0 w 1601400"/>
                <a:gd name="connsiteY6" fmla="*/ 694118 h 1388236"/>
                <a:gd name="connsiteX0" fmla="*/ 0 w 1601400"/>
                <a:gd name="connsiteY0" fmla="*/ 694704 h 1388822"/>
                <a:gd name="connsiteX1" fmla="*/ 396258 w 1601400"/>
                <a:gd name="connsiteY1" fmla="*/ 586 h 1388822"/>
                <a:gd name="connsiteX2" fmla="*/ 482002 w 1601400"/>
                <a:gd name="connsiteY2" fmla="*/ 0 h 1388822"/>
                <a:gd name="connsiteX3" fmla="*/ 1601400 w 1601400"/>
                <a:gd name="connsiteY3" fmla="*/ 694704 h 1388822"/>
                <a:gd name="connsiteX4" fmla="*/ 1205142 w 1601400"/>
                <a:gd name="connsiteY4" fmla="*/ 1388822 h 1388822"/>
                <a:gd name="connsiteX5" fmla="*/ 396258 w 1601400"/>
                <a:gd name="connsiteY5" fmla="*/ 1388822 h 1388822"/>
                <a:gd name="connsiteX6" fmla="*/ 0 w 1601400"/>
                <a:gd name="connsiteY6" fmla="*/ 694704 h 1388822"/>
                <a:gd name="connsiteX0" fmla="*/ 0 w 1241871"/>
                <a:gd name="connsiteY0" fmla="*/ 694704 h 1388822"/>
                <a:gd name="connsiteX1" fmla="*/ 396258 w 1241871"/>
                <a:gd name="connsiteY1" fmla="*/ 586 h 1388822"/>
                <a:gd name="connsiteX2" fmla="*/ 482002 w 1241871"/>
                <a:gd name="connsiteY2" fmla="*/ 0 h 1388822"/>
                <a:gd name="connsiteX3" fmla="*/ 1241871 w 1241871"/>
                <a:gd name="connsiteY3" fmla="*/ 1323912 h 1388822"/>
                <a:gd name="connsiteX4" fmla="*/ 1205142 w 1241871"/>
                <a:gd name="connsiteY4" fmla="*/ 1388822 h 1388822"/>
                <a:gd name="connsiteX5" fmla="*/ 396258 w 1241871"/>
                <a:gd name="connsiteY5" fmla="*/ 1388822 h 1388822"/>
                <a:gd name="connsiteX6" fmla="*/ 0 w 1241871"/>
                <a:gd name="connsiteY6" fmla="*/ 694704 h 138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871" h="1388822">
                  <a:moveTo>
                    <a:pt x="0" y="694704"/>
                  </a:moveTo>
                  <a:lnTo>
                    <a:pt x="396258" y="586"/>
                  </a:lnTo>
                  <a:lnTo>
                    <a:pt x="482002" y="0"/>
                  </a:lnTo>
                  <a:lnTo>
                    <a:pt x="1241871" y="1323912"/>
                  </a:lnTo>
                  <a:lnTo>
                    <a:pt x="1205142" y="1388822"/>
                  </a:lnTo>
                  <a:lnTo>
                    <a:pt x="396258" y="1388822"/>
                  </a:lnTo>
                  <a:lnTo>
                    <a:pt x="0" y="694704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2700">
              <a:solidFill>
                <a:schemeClr val="bg1">
                  <a:alpha val="12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914400" y="500231"/>
            <a:ext cx="16459200" cy="9278471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9122484" y="-32267"/>
            <a:ext cx="7358232" cy="1048866"/>
          </a:xfrm>
          <a:prstGeom prst="rect">
            <a:avLst/>
          </a:prstGeom>
          <a:solidFill>
            <a:srgbClr val="F5F5F5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9298192" y="-32265"/>
            <a:ext cx="7010400" cy="9359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63284" tIns="81642" rIns="163284" bIns="81642"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6980" y="1541496"/>
            <a:ext cx="14049488" cy="1714500"/>
          </a:xfrm>
          <a:prstGeom prst="rect">
            <a:avLst/>
          </a:prstGeom>
        </p:spPr>
        <p:txBody>
          <a:bodyPr vert="horz" lIns="163284" tIns="81642" rIns="163284" bIns="81642" rtlCol="0" anchor="b">
            <a:normAutofit/>
          </a:bodyPr>
          <a:lstStyle/>
          <a:p>
            <a:r>
              <a:rPr lang="bg-BG" smtClean="0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6985" y="3485478"/>
            <a:ext cx="13554634" cy="5263466"/>
          </a:xfrm>
          <a:prstGeom prst="rect">
            <a:avLst/>
          </a:prstGeom>
        </p:spPr>
        <p:txBody>
          <a:bodyPr vert="horz" lIns="163284" tIns="81642" rIns="163284" bIns="81642" rtlCol="0">
            <a:normAutofit/>
          </a:bodyPr>
          <a:lstStyle/>
          <a:p>
            <a:pPr lvl="0"/>
            <a:r>
              <a:rPr lang="bg-BG" smtClean="0"/>
              <a:t>Щракнете, за да редактирате стиловете на текста в образеца</a:t>
            </a:r>
          </a:p>
          <a:p>
            <a:pPr lvl="1"/>
            <a:r>
              <a:rPr lang="bg-BG" smtClean="0"/>
              <a:t>Второ ниво</a:t>
            </a:r>
          </a:p>
          <a:p>
            <a:pPr lvl="2"/>
            <a:r>
              <a:rPr lang="bg-BG" smtClean="0"/>
              <a:t>Трето ниво</a:t>
            </a:r>
          </a:p>
          <a:p>
            <a:pPr lvl="3"/>
            <a:r>
              <a:rPr lang="bg-BG" smtClean="0"/>
              <a:t>Четвърто ниво</a:t>
            </a:r>
          </a:p>
          <a:p>
            <a:pPr lvl="4"/>
            <a:r>
              <a:rPr lang="bg-BG" smtClean="0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994776" y="336739"/>
            <a:ext cx="4267200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rgbClr val="FEFEFE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282896" y="8778241"/>
            <a:ext cx="7004304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98192" y="336737"/>
            <a:ext cx="2664312" cy="547688"/>
          </a:xfrm>
          <a:prstGeom prst="rect">
            <a:avLst/>
          </a:prstGeom>
        </p:spPr>
        <p:txBody>
          <a:bodyPr vert="horz" lIns="163284" tIns="81642" rIns="163284" bIns="81642" rtlCol="0" anchor="ctr"/>
          <a:lstStyle>
            <a:lvl1pPr algn="l">
              <a:defRPr sz="2100">
                <a:solidFill>
                  <a:srgbClr val="FEFEFE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632844" rtl="0" eaLnBrk="1" latinLnBrk="0" hangingPunct="1">
        <a:spcBef>
          <a:spcPct val="0"/>
        </a:spcBef>
        <a:buNone/>
        <a:defRPr sz="71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612317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4300" kern="1200">
          <a:solidFill>
            <a:schemeClr val="tx2"/>
          </a:solidFill>
          <a:latin typeface="+mn-lt"/>
          <a:ea typeface="+mn-ea"/>
          <a:cs typeface="+mn-cs"/>
        </a:defRPr>
      </a:lvl1pPr>
      <a:lvl2pPr marL="1142991" indent="-489853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900" kern="1200">
          <a:solidFill>
            <a:schemeClr val="tx2"/>
          </a:solidFill>
          <a:latin typeface="+mn-lt"/>
          <a:ea typeface="+mn-ea"/>
          <a:cs typeface="+mn-cs"/>
        </a:defRPr>
      </a:lvl2pPr>
      <a:lvl3pPr marL="163284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600" kern="1200">
          <a:solidFill>
            <a:schemeClr val="tx2"/>
          </a:solidFill>
          <a:latin typeface="+mn-lt"/>
          <a:ea typeface="+mn-ea"/>
          <a:cs typeface="+mn-cs"/>
        </a:defRPr>
      </a:lvl3pPr>
      <a:lvl4pPr marL="20083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3200" kern="1200">
          <a:solidFill>
            <a:schemeClr val="tx2"/>
          </a:solidFill>
          <a:latin typeface="+mn-lt"/>
          <a:ea typeface="+mn-ea"/>
          <a:cs typeface="+mn-cs"/>
        </a:defRPr>
      </a:lvl4pPr>
      <a:lvl5pPr marL="2367624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9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10521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6pPr>
      <a:lvl7pPr marL="3069747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7pPr>
      <a:lvl8pPr marL="3428973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8pPr>
      <a:lvl9pPr marL="3788198" indent="-408211" algn="l" defTabSz="1632844" rtl="0" eaLnBrk="1" latinLnBrk="0" hangingPunct="1">
        <a:spcBef>
          <a:spcPct val="20000"/>
        </a:spcBef>
        <a:buClr>
          <a:schemeClr val="accent1"/>
        </a:buClr>
        <a:buSzPct val="76000"/>
        <a:buFont typeface="Wingdings 2" pitchFamily="18" charset="2"/>
        <a:buChar char=""/>
        <a:defRPr sz="25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642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3284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4926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65688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82110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98532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714954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31376" algn="l" defTabSz="1632844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9.png"/><Relationship Id="rId4" Type="http://schemas.microsoft.com/office/2007/relationships/hdphoto" Target="../media/hdphoto1.wdp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828B2F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201400" y="8138092"/>
            <a:ext cx="4759027" cy="388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2"/>
              </a:lnSpc>
            </a:pPr>
            <a:r>
              <a:rPr lang="en-US" sz="2358" dirty="0" err="1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Дипломан</a:t>
            </a:r>
            <a:r>
              <a:rPr lang="bg-BG" sz="2358" dirty="0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т</a:t>
            </a:r>
            <a:r>
              <a:rPr lang="en-US" sz="2358" dirty="0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: </a:t>
            </a:r>
            <a:r>
              <a:rPr lang="bg-BG" sz="2358" dirty="0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Ива</a:t>
            </a:r>
            <a:r>
              <a:rPr lang="en-US" sz="2358" dirty="0" smtClean="0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 </a:t>
            </a:r>
            <a:r>
              <a:rPr lang="en-US" sz="2358" dirty="0" err="1">
                <a:solidFill>
                  <a:srgbClr val="5A0202"/>
                </a:solidFill>
                <a:latin typeface="Times New Roman" panose="02020603050405020304" pitchFamily="18" charset="0"/>
                <a:ea typeface="Red Hat Display"/>
                <a:cs typeface="Times New Roman" panose="02020603050405020304" pitchFamily="18" charset="0"/>
                <a:sym typeface="Red Hat Display"/>
              </a:rPr>
              <a:t>Колчагова</a:t>
            </a:r>
            <a:endParaRPr lang="en-US" sz="2358" dirty="0">
              <a:solidFill>
                <a:srgbClr val="5A0202"/>
              </a:solidFill>
              <a:latin typeface="Times New Roman" panose="02020603050405020304" pitchFamily="18" charset="0"/>
              <a:ea typeface="Red Hat Display"/>
              <a:cs typeface="Times New Roman" panose="02020603050405020304" pitchFamily="18" charset="0"/>
              <a:sym typeface="Red Hat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126940" y="1358512"/>
            <a:ext cx="8141115" cy="2103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ДЪРЖАВЕН ИЗПИТ ЗА ПРИДОБИВАНЕ НА ТРЕТА СТЕПЕН НА ПРОФЕСИОНАЛНА КВАЛИФИКАЦИЯ – ЧАСТ ПО ТЕПРИЯ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НА ПРОЕКТА ПО ПРОФЕСИЯ КОД 481030 „ПРИЛОЖЕН ПРОГРАМИСТ“</a:t>
            </a:r>
          </a:p>
          <a:p>
            <a:pPr algn="ctr">
              <a:lnSpc>
                <a:spcPts val="2832"/>
              </a:lnSpc>
            </a:pPr>
            <a:r>
              <a:rPr lang="en-US" sz="2023" b="1" dirty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 СПЕЦИАЛНОСТ КОД 4810301 „ ПРИЛОЖНО ПРОГРАМИРАНЕ“</a:t>
            </a:r>
          </a:p>
          <a:p>
            <a:pPr algn="ctr">
              <a:lnSpc>
                <a:spcPts val="2412"/>
              </a:lnSpc>
              <a:spcBef>
                <a:spcPct val="0"/>
              </a:spcBef>
            </a:pPr>
            <a:endParaRPr lang="en-US" sz="2023" b="1" dirty="0">
              <a:solidFill>
                <a:srgbClr val="49500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69306" y="4776612"/>
            <a:ext cx="6656384" cy="423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2"/>
              </a:lnSpc>
              <a:spcBef>
                <a:spcPct val="0"/>
              </a:spcBef>
            </a:pPr>
            <a:r>
              <a:rPr lang="bg-BG" sz="2573" b="1" dirty="0" smtClean="0">
                <a:solidFill>
                  <a:srgbClr val="5A0202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Тема</a:t>
            </a:r>
            <a:r>
              <a:rPr lang="en-US" sz="2573" dirty="0" smtClean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: </a:t>
            </a:r>
            <a:r>
              <a:rPr lang="bg-BG" sz="2573" dirty="0" smtClean="0">
                <a:solidFill>
                  <a:srgbClr val="5A0202"/>
                </a:solidFill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Класификация на изображения</a:t>
            </a:r>
            <a:endParaRPr lang="en-US" sz="2573" dirty="0">
              <a:solidFill>
                <a:srgbClr val="5A0202"/>
              </a:solidFill>
              <a:latin typeface="Times New Roman" panose="02020603050405020304" pitchFamily="18" charset="0"/>
              <a:ea typeface="Open Sans"/>
              <a:cs typeface="Times New Roman" panose="02020603050405020304" pitchFamily="18" charset="0"/>
              <a:sym typeface="Open San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239590"/>
            <a:ext cx="1723636" cy="172363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7391400" y="221962"/>
            <a:ext cx="3276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 smtClean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 на проекта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Картина 8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699"/>
            <a:ext cx="8305800" cy="48768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Картина 9"/>
          <p:cNvPicPr/>
          <p:nvPr/>
        </p:nvPicPr>
        <p:blipFill>
          <a:blip r:embed="rId4"/>
          <a:stretch>
            <a:fillRect/>
          </a:stretch>
        </p:blipFill>
        <p:spPr>
          <a:xfrm>
            <a:off x="9034013" y="4838700"/>
            <a:ext cx="8305800" cy="4876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143" y="-1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334000" y="221961"/>
            <a:ext cx="1554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Защо е необходимо това приложение?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1395321"/>
            <a:ext cx="11734995" cy="79903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5257800" y="221962"/>
            <a:ext cx="7761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Използване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CNN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Transfer Learning. </a:t>
            </a:r>
            <a:endParaRPr lang="bg-BG" sz="32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4117" y="1257300"/>
            <a:ext cx="13868400" cy="8382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257300"/>
            <a:ext cx="14782800" cy="8305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6629400" y="221962"/>
            <a:ext cx="434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Библиотеки на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Python - Wikiversit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422" b="92266" l="5391" r="9476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2487" y="1066799"/>
            <a:ext cx="4174561" cy="41745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jango - Full Stack Pyth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100000">
                        <a14:foregroundMark x1="46333" y1="31579" x2="48000" y2="57895"/>
                        <a14:foregroundMark x1="87917" y1="31579" x2="83250" y2="56938"/>
                        <a14:foregroundMark x1="37500" y1="34450" x2="40917" y2="54067"/>
                        <a14:foregroundMark x1="23583" y1="38278" x2="22583" y2="62679"/>
                        <a14:foregroundMark x1="21917" y1="13158" x2="21917" y2="13158"/>
                        <a14:foregroundMark x1="14833" y1="32536" x2="14167" y2="38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5275511"/>
            <a:ext cx="3730171" cy="12993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75" b="99302" l="4197" r="96898">
                        <a14:foregroundMark x1="5657" y1="24782" x2="47080" y2="209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327" y="6362700"/>
            <a:ext cx="2058883" cy="21528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34" name="Picture 10" descr="Keras: Deep Learning for humans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0771" y="5264576"/>
            <a:ext cx="4499429" cy="13048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3200400" y="221962"/>
            <a:ext cx="1249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Django Framework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и </a:t>
            </a:r>
            <a:r>
              <a:rPr lang="en-US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REST API. </a:t>
            </a:r>
            <a:r>
              <a:rPr lang="bg-BG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Клиент-сървър архитектура</a:t>
            </a:r>
            <a:r>
              <a:rPr lang="bg-BG" sz="3200" b="1" dirty="0"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9" name="AutoShape 2" descr="Клиент – сървър – Уикипедия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  <p:pic>
        <p:nvPicPr>
          <p:cNvPr id="11" name="Картина 10"/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173163"/>
            <a:ext cx="7924799" cy="5126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28" name="Picture 4" descr="Understand How Python Django MVT Work In 3 Minutes | by Debugging ..."/>
          <p:cNvPicPr>
            <a:picLocks noChangeAspect="1" noChangeArrowheads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4400" y="4381500"/>
            <a:ext cx="8712745" cy="52649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512379" y="221962"/>
            <a:ext cx="1432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Точност на класификацията и потребителско преживяване</a:t>
            </a: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bg-BG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1485900"/>
            <a:ext cx="11270554" cy="77526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6459200" cy="1028700"/>
            <a:chOff x="0" y="0"/>
            <a:chExt cx="4334933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34933" cy="270933"/>
            </a:xfrm>
            <a:custGeom>
              <a:avLst/>
              <a:gdLst/>
              <a:ahLst/>
              <a:cxnLst/>
              <a:rect l="l" t="t" r="r" b="b"/>
              <a:pathLst>
                <a:path w="4334933" h="270933">
                  <a:moveTo>
                    <a:pt x="0" y="0"/>
                  </a:moveTo>
                  <a:lnTo>
                    <a:pt x="4334933" y="0"/>
                  </a:lnTo>
                  <a:lnTo>
                    <a:pt x="433493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9DA8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34933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5387958" y="0"/>
            <a:ext cx="2900042" cy="1028700"/>
            <a:chOff x="0" y="0"/>
            <a:chExt cx="763797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63797" cy="270933"/>
            </a:xfrm>
            <a:custGeom>
              <a:avLst/>
              <a:gdLst/>
              <a:ahLst/>
              <a:cxnLst/>
              <a:rect l="l" t="t" r="r" b="b"/>
              <a:pathLst>
                <a:path w="763797" h="270933">
                  <a:moveTo>
                    <a:pt x="0" y="0"/>
                  </a:moveTo>
                  <a:lnTo>
                    <a:pt x="763797" y="0"/>
                  </a:lnTo>
                  <a:lnTo>
                    <a:pt x="76379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828B2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63797" cy="3090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6459200" y="6991205"/>
            <a:ext cx="1505315" cy="498123"/>
          </a:xfrm>
          <a:custGeom>
            <a:avLst/>
            <a:gdLst/>
            <a:ahLst/>
            <a:cxnLst/>
            <a:rect l="l" t="t" r="r" b="b"/>
            <a:pathLst>
              <a:path w="1505315" h="498123">
                <a:moveTo>
                  <a:pt x="0" y="0"/>
                </a:moveTo>
                <a:lnTo>
                  <a:pt x="1505315" y="0"/>
                </a:lnTo>
                <a:lnTo>
                  <a:pt x="1505315" y="498123"/>
                </a:lnTo>
                <a:lnTo>
                  <a:pt x="0" y="49812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pic>
        <p:nvPicPr>
          <p:cNvPr id="10" name="Картина 9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028700"/>
            <a:ext cx="16459200" cy="8763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914400" y="876300"/>
            <a:ext cx="16230600" cy="8229600"/>
            <a:chOff x="0" y="0"/>
            <a:chExt cx="4274726" cy="216746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687021"/>
              </a:solidFill>
              <a:prstDash val="solid"/>
              <a:round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4031343" y="4197314"/>
            <a:ext cx="10210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6000" b="1" dirty="0" smtClean="0">
                <a:solidFill>
                  <a:srgbClr val="5A0202"/>
                </a:solidFill>
                <a:latin typeface="Times New Roman" panose="02020603050405020304" pitchFamily="18" charset="0"/>
                <a:ea typeface="Open Sans" panose="020B0604020202020204" charset="0"/>
                <a:cs typeface="Times New Roman" panose="02020603050405020304" pitchFamily="18" charset="0"/>
              </a:rPr>
              <a:t>Благодаря за вниманието!</a:t>
            </a:r>
            <a:endParaRPr lang="bg-BG" sz="6000" b="1" dirty="0">
              <a:solidFill>
                <a:srgbClr val="5A0202"/>
              </a:solidFill>
              <a:latin typeface="Times New Roman" panose="02020603050405020304" pitchFamily="18" charset="0"/>
              <a:ea typeface="Open Sans" panose="020B060402020202020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Остин">
  <a:themeElements>
    <a:clrScheme name="Остин">
      <a:dk1>
        <a:sysClr val="windowText" lastClr="000000"/>
      </a:dk1>
      <a:lt1>
        <a:sysClr val="window" lastClr="FFFFFF"/>
      </a:lt1>
      <a:dk2>
        <a:srgbClr val="3E3D2D"/>
      </a:dk2>
      <a:lt2>
        <a:srgbClr val="CAF278"/>
      </a:lt2>
      <a:accent1>
        <a:srgbClr val="94C600"/>
      </a:accent1>
      <a:accent2>
        <a:srgbClr val="71685A"/>
      </a:accent2>
      <a:accent3>
        <a:srgbClr val="FF6700"/>
      </a:accent3>
      <a:accent4>
        <a:srgbClr val="909465"/>
      </a:accent4>
      <a:accent5>
        <a:srgbClr val="956B43"/>
      </a:accent5>
      <a:accent6>
        <a:srgbClr val="FEA022"/>
      </a:accent6>
      <a:hlink>
        <a:srgbClr val="E68200"/>
      </a:hlink>
      <a:folHlink>
        <a:srgbClr val="FFA94A"/>
      </a:folHlink>
    </a:clrScheme>
    <a:fontScheme name="Остин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Остин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  <a:lumMod val="100000"/>
              </a:schemeClr>
            </a:gs>
          </a:gsLst>
          <a:lin ang="504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75000"/>
                <a:satMod val="120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>
            <a:bevelT w="50800" h="12700" prst="softRound"/>
          </a:sp3d>
        </a:effectStyle>
        <a:effectStyle>
          <a:effectLst>
            <a:outerShdw blurRad="44450" dist="50800" dir="5400000" sx="96000" rotWithShape="0">
              <a:srgbClr val="000000">
                <a:alpha val="3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0400000"/>
            </a:lightRig>
          </a:scene3d>
          <a:sp3d contourW="15875" prstMaterial="metal">
            <a:bevelT w="101600" h="25400" prst="softRound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94000"/>
                <a:satMod val="114000"/>
                <a:lumMod val="96000"/>
              </a:schemeClr>
            </a:gs>
            <a:gs pos="62000">
              <a:schemeClr val="phClr">
                <a:tint val="92000"/>
                <a:shade val="66000"/>
                <a:satMod val="110000"/>
                <a:lumMod val="80000"/>
              </a:schemeClr>
            </a:gs>
            <a:gs pos="100000">
              <a:schemeClr val="phClr">
                <a:tint val="89000"/>
                <a:shade val="62000"/>
                <a:satMod val="110000"/>
                <a:lumMod val="7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80000"/>
                <a:shade val="58000"/>
              </a:schemeClr>
              <a:schemeClr val="phClr">
                <a:tint val="73000"/>
                <a:shade val="68000"/>
                <a:satMod val="150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Austin</Template>
  <TotalTime>552</TotalTime>
  <Words>406</Words>
  <Application>Microsoft Office PowerPoint</Application>
  <PresentationFormat>Custom</PresentationFormat>
  <Paragraphs>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Red Hat Display</vt:lpstr>
      <vt:lpstr>Calibri</vt:lpstr>
      <vt:lpstr>Open Sans</vt:lpstr>
      <vt:lpstr>Open Sans Bold</vt:lpstr>
      <vt:lpstr>Century Gothic</vt:lpstr>
      <vt:lpstr>Wingdings 2</vt:lpstr>
      <vt:lpstr>Times New Roman</vt:lpstr>
      <vt:lpstr>Arial</vt:lpstr>
      <vt:lpstr>Остин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Geometric Thesis Defense Presentation</dc:title>
  <dc:creator>Vistauser</dc:creator>
  <cp:lastModifiedBy>admin</cp:lastModifiedBy>
  <cp:revision>40</cp:revision>
  <dcterms:created xsi:type="dcterms:W3CDTF">2006-08-16T00:00:00Z</dcterms:created>
  <dcterms:modified xsi:type="dcterms:W3CDTF">2026-05-08T08:33:22Z</dcterms:modified>
  <dc:identifier>DAHHeaqNLLk</dc:identifier>
</cp:coreProperties>
</file>