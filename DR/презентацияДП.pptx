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Open Sans Bold" panose="020B0604020202020204" charset="0"/>
      <p:regular r:id="rId13"/>
    </p:embeddedFont>
    <p:embeddedFont>
      <p:font typeface="Century Gothic" panose="020B0502020202020204" pitchFamily="34" charset="0"/>
      <p:regular r:id="rId14"/>
      <p:bold r:id="rId15"/>
      <p:italic r:id="rId16"/>
      <p:boldItalic r:id="rId17"/>
    </p:embeddedFont>
    <p:embeddedFont>
      <p:font typeface="Wingdings 2" panose="05020102010507070707" pitchFamily="18" charset="2"/>
      <p:regular r:id="rId18"/>
    </p:embeddedFont>
    <p:embeddedFont>
      <p:font typeface="Red Hat Display" panose="020B0604020202020204" charset="0"/>
      <p:regular r:id="rId19"/>
    </p:embeddedFont>
    <p:embeddedFont>
      <p:font typeface="Open Sans" panose="020B0604020202020204" charset="0"/>
      <p:regular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02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24" autoAdjust="0"/>
    <p:restoredTop sz="72954" autoAdjust="0"/>
  </p:normalViewPr>
  <p:slideViewPr>
    <p:cSldViewPr>
      <p:cViewPr varScale="1">
        <p:scale>
          <a:sx n="56" d="100"/>
          <a:sy n="56" d="100"/>
        </p:scale>
        <p:origin x="1290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5020F-7003-4703-AC9D-8EFB0C563F7C}" type="datetimeFigureOut">
              <a:rPr lang="bg-BG" smtClean="0"/>
              <a:t>12.5.2026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BA547-B606-40EB-B822-2FCF41B64F5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00157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Уважаема г-жо Директор, Уважаема комисия, уважаеми гости (ако има такива/или поименно – ако е еди</a:t>
            </a:r>
            <a:r>
              <a:rPr lang="bg-BG" dirty="0"/>
              <a:t>н</a:t>
            </a:r>
            <a:r>
              <a:rPr lang="ru-RU" dirty="0"/>
              <a:t> конкретен гост)</a:t>
            </a:r>
          </a:p>
          <a:p>
            <a:endParaRPr lang="ru-RU" dirty="0"/>
          </a:p>
          <a:p>
            <a:r>
              <a:rPr lang="ru-RU" dirty="0"/>
              <a:t>Аз съм Ива</a:t>
            </a:r>
            <a:r>
              <a:rPr lang="ru-RU" baseline="0" dirty="0"/>
              <a:t> Колчагова</a:t>
            </a:r>
            <a:r>
              <a:rPr lang="ru-RU" dirty="0"/>
              <a:t>.</a:t>
            </a:r>
          </a:p>
          <a:p>
            <a:r>
              <a:rPr lang="ru-RU" dirty="0"/>
              <a:t>Темата на моят дипломен проект е „</a:t>
            </a:r>
            <a:r>
              <a:rPr lang="ru-RU" baseline="0" dirty="0"/>
              <a:t>Класификация на изображения</a:t>
            </a:r>
            <a:r>
              <a:rPr lang="ru-RU" dirty="0"/>
              <a:t>.‘‘</a:t>
            </a:r>
          </a:p>
          <a:p>
            <a:r>
              <a:rPr lang="bg-BG" dirty="0"/>
              <a:t>Проектът</a:t>
            </a:r>
            <a:r>
              <a:rPr lang="bg-BG" baseline="0" dirty="0"/>
              <a:t> представлява уеб приложение, което автоматично разпознава растителни видове с помощта на </a:t>
            </a:r>
            <a:r>
              <a:rPr lang="bg-BG" baseline="0" dirty="0" smtClean="0"/>
              <a:t>съвременни </a:t>
            </a:r>
            <a:r>
              <a:rPr lang="bg-BG" baseline="0" dirty="0"/>
              <a:t>инструменти.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124840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g-BG" dirty="0"/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Целта на разработката е да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ефективно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решение за разпознаване на растения чрез снимки, използвайки съвременни технологии в областта на изкуствения интелект. Проектът обединява сложни алгоритми за машинно обучение с практична уеб архитектура, приложима в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образованието,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екологията и агрономията.</a:t>
            </a:r>
            <a:endParaRPr lang="bg-BG" dirty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61991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В съвременния свят бързото разпознаване на флората е от ключово значение за специалисти и любители.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Създаденият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модел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само класифицира изображенията с висока точност, но и работи достатъчно бързо, за да бъде интегриран в реално приложение. Стремях се да постигна баланс между сложността на невронната мрежа и ефективността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крайния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76454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/>
              <a:t>Технологии и</a:t>
            </a:r>
            <a:r>
              <a:rPr lang="bg-BG" baseline="0" dirty="0"/>
              <a:t> архитектура на модела</a:t>
            </a:r>
          </a:p>
          <a:p>
            <a:endParaRPr lang="bg-BG" baseline="0" dirty="0"/>
          </a:p>
          <a:p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Конволюционните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невронни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мрежи,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или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CNN,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основата</a:t>
            </a:r>
            <a:r>
              <a:rPr lang="ru-RU" dirty="0"/>
              <a:t> на </a:t>
            </a:r>
            <a:r>
              <a:rPr lang="ru-RU" dirty="0" err="1"/>
              <a:t>модела</a:t>
            </a:r>
            <a:r>
              <a:rPr lang="ru-RU" dirty="0"/>
              <a:t>, </a:t>
            </a:r>
            <a:r>
              <a:rPr lang="ru-RU" dirty="0" err="1"/>
              <a:t>тъй</a:t>
            </a:r>
            <a:r>
              <a:rPr lang="ru-RU" dirty="0"/>
              <a:t> </a:t>
            </a:r>
            <a:r>
              <a:rPr lang="ru-RU" dirty="0" err="1"/>
              <a:t>като</a:t>
            </a:r>
            <a:r>
              <a:rPr lang="ru-RU" dirty="0"/>
              <a:t> те </a:t>
            </a:r>
            <a:r>
              <a:rPr lang="ru-RU" dirty="0" err="1"/>
              <a:t>могат</a:t>
            </a:r>
            <a:r>
              <a:rPr lang="ru-RU" dirty="0"/>
              <a:t> автоматично да </a:t>
            </a:r>
            <a:r>
              <a:rPr lang="ru-RU" dirty="0" err="1"/>
              <a:t>разпознават</a:t>
            </a:r>
            <a:r>
              <a:rPr lang="ru-RU" dirty="0"/>
              <a:t> </a:t>
            </a:r>
            <a:r>
              <a:rPr lang="ru-RU" dirty="0" err="1"/>
              <a:t>сложни</a:t>
            </a:r>
            <a:r>
              <a:rPr lang="ru-RU" dirty="0"/>
              <a:t> </a:t>
            </a:r>
            <a:r>
              <a:rPr lang="ru-RU" dirty="0" err="1"/>
              <a:t>визуални</a:t>
            </a:r>
            <a:r>
              <a:rPr lang="ru-RU" dirty="0"/>
              <a:t> характеристики без </a:t>
            </a:r>
            <a:r>
              <a:rPr lang="ru-RU" dirty="0" err="1"/>
              <a:t>ръчна</a:t>
            </a:r>
            <a:r>
              <a:rPr lang="ru-RU" dirty="0"/>
              <a:t> </a:t>
            </a:r>
            <a:r>
              <a:rPr lang="ru-RU" dirty="0" err="1"/>
              <a:t>намеса</a:t>
            </a:r>
            <a:r>
              <a:rPr lang="ru-RU" dirty="0"/>
              <a:t>.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По-конкретно използвах архитектурата MobileNetV2, защото тя е оптимизирана за мобилни и уеб устройства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dirty="0"/>
              <a:t>позволява бърза обработка без да се губи точност.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bg-BG" baseline="0" dirty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283172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Приложих метода TransferLearning като използвах предварително обучени модели , които изчисляват сложните математически изчисления на зададен план.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62679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/>
              <a:t>Проекта</a:t>
            </a:r>
            <a:r>
              <a:rPr lang="bg-BG" baseline="0" dirty="0"/>
              <a:t> е базиран на езика </a:t>
            </a:r>
            <a:r>
              <a:rPr lang="en-US" baseline="0" dirty="0"/>
              <a:t>Python</a:t>
            </a:r>
            <a:r>
              <a:rPr lang="bg-BG" baseline="0" dirty="0"/>
              <a:t>. Основната използвана библиотека е </a:t>
            </a:r>
            <a:r>
              <a:rPr lang="en-US" baseline="0" dirty="0" err="1"/>
              <a:t>Keras</a:t>
            </a:r>
            <a:r>
              <a:rPr lang="bg-BG" baseline="0" dirty="0"/>
              <a:t>, която</a:t>
            </a:r>
            <a:r>
              <a:rPr lang="ru-RU" dirty="0"/>
              <a:t> служи като интерфейс (API), който улеснява</a:t>
            </a:r>
            <a:r>
              <a:rPr lang="ru-RU" baseline="0" dirty="0"/>
              <a:t> </a:t>
            </a:r>
            <a:r>
              <a:rPr lang="ru-RU" dirty="0"/>
              <a:t>изграждането, обучаването и тества</a:t>
            </a:r>
            <a:r>
              <a:rPr lang="bg-BG" dirty="0"/>
              <a:t>нето</a:t>
            </a:r>
            <a:r>
              <a:rPr lang="bg-BG" baseline="0" dirty="0"/>
              <a:t> на</a:t>
            </a:r>
            <a:r>
              <a:rPr lang="ru-RU" dirty="0"/>
              <a:t> невронни мрежи</a:t>
            </a:r>
            <a:r>
              <a:rPr lang="bg-BG" baseline="0" dirty="0"/>
              <a:t>. Друга използвана библиотека е </a:t>
            </a:r>
            <a:r>
              <a:rPr lang="en-US" baseline="0" dirty="0" err="1"/>
              <a:t>Tensorflow</a:t>
            </a:r>
            <a:r>
              <a:rPr lang="en-US" baseline="0" dirty="0"/>
              <a:t>, </a:t>
            </a:r>
            <a:r>
              <a:rPr lang="bg-BG" baseline="0" dirty="0"/>
              <a:t>която основно се използва </a:t>
            </a:r>
            <a:r>
              <a:rPr lang="bg-BG" baseline="0"/>
              <a:t>за машинно и дълбоко обучение.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6794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Използвах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софтуерната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рамка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Django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за да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създам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backend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-а /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сървърна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част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уебсайт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функционалностите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Той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обработва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потребителски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заявки 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комуникира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модела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С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помощта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Django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REST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Framework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създадох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 /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приложно-програмен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интерфейс/ ,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който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позволява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обмен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данни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между клиента 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сървъра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443294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Системата постига висока точност и бързи резултати</a:t>
            </a:r>
            <a:r>
              <a:rPr lang="en-US" dirty="0"/>
              <a:t>,</a:t>
            </a:r>
            <a:r>
              <a:rPr lang="bg-BG" dirty="0"/>
              <a:t> като показва</a:t>
            </a:r>
            <a:r>
              <a:rPr lang="bg-BG" baseline="0" dirty="0"/>
              <a:t> топ 3 варианта и процент на </a:t>
            </a:r>
            <a:r>
              <a:rPr lang="bg-BG" baseline="0" dirty="0" smtClean="0"/>
              <a:t>увереност, след като потребителят качи снимка от устройството или директно заснеме</a:t>
            </a:r>
            <a:r>
              <a:rPr lang="ru-RU" dirty="0" smtClean="0"/>
              <a:t>. </a:t>
            </a:r>
            <a:r>
              <a:rPr lang="ru-RU" dirty="0" err="1"/>
              <a:t>Приложението</a:t>
            </a:r>
            <a:r>
              <a:rPr lang="ru-RU" dirty="0"/>
              <a:t> е </a:t>
            </a:r>
            <a:r>
              <a:rPr lang="ru-RU" dirty="0" err="1"/>
              <a:t>лесно</a:t>
            </a:r>
            <a:r>
              <a:rPr lang="ru-RU" dirty="0"/>
              <a:t> за </a:t>
            </a:r>
            <a:r>
              <a:rPr lang="ru-RU" dirty="0" err="1"/>
              <a:t>използване</a:t>
            </a:r>
            <a:r>
              <a:rPr lang="ru-RU" dirty="0"/>
              <a:t>, а </a:t>
            </a:r>
            <a:r>
              <a:rPr lang="ru-RU" dirty="0" err="1"/>
              <a:t>интеграцията</a:t>
            </a:r>
            <a:r>
              <a:rPr lang="ru-RU" dirty="0"/>
              <a:t> с </a:t>
            </a:r>
            <a:r>
              <a:rPr lang="ru-RU" dirty="0" err="1"/>
              <a:t>Django</a:t>
            </a:r>
            <a:r>
              <a:rPr lang="ru-RU" dirty="0"/>
              <a:t> </a:t>
            </a:r>
            <a:r>
              <a:rPr lang="ru-RU" dirty="0" err="1"/>
              <a:t>прави</a:t>
            </a:r>
            <a:r>
              <a:rPr lang="ru-RU" dirty="0"/>
              <a:t> AI </a:t>
            </a:r>
            <a:r>
              <a:rPr lang="ru-RU" dirty="0" err="1"/>
              <a:t>модела</a:t>
            </a:r>
            <a:r>
              <a:rPr lang="ru-RU" dirty="0"/>
              <a:t> </a:t>
            </a:r>
            <a:r>
              <a:rPr lang="ru-RU" dirty="0" err="1"/>
              <a:t>достъпен</a:t>
            </a:r>
            <a:r>
              <a:rPr lang="ru-RU" dirty="0"/>
              <a:t> за </a:t>
            </a:r>
            <a:r>
              <a:rPr lang="ru-RU" dirty="0" err="1"/>
              <a:t>потребителите</a:t>
            </a:r>
            <a:r>
              <a:rPr lang="ru-RU" dirty="0"/>
              <a:t>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2887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Това</a:t>
            </a:r>
            <a:r>
              <a:rPr lang="bg-BG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 накратко моят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проект,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който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доказа, че съвременните AI технологии могат успешно да се интегрират в достъпни уеб инструменти.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773447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Ако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имате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въпроси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съм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готова да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отговоря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bg-BG" dirty="0"/>
          </a:p>
        </p:txBody>
      </p:sp>
      <p:sp>
        <p:nvSpPr>
          <p:cNvPr id="4" name="Контейнер за номер на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7737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Заглавен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4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0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5" name="Rectangle 114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6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7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1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5" name="Rectangle 84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6" name="Rectangle 85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Rectangle 11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3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78" name="Rectangle 77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1" name="Rectangle 80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75" name="Rectangle 74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5" name="Freeform 44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Freeform 50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 51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Hexagon 54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Freeform 57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Hexagon 60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Hexagon 62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Freeform 67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Freeform 68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6" name="Rectangle 45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47" name="Rectangle 46"/>
          <p:cNvSpPr/>
          <p:nvPr/>
        </p:nvSpPr>
        <p:spPr>
          <a:xfrm>
            <a:off x="9298192" y="-32266"/>
            <a:ext cx="7010400" cy="34693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6731" y="4062714"/>
            <a:ext cx="6626710" cy="2553240"/>
          </a:xfrm>
        </p:spPr>
        <p:txBody>
          <a:bodyPr>
            <a:normAutofit/>
          </a:bodyPr>
          <a:lstStyle>
            <a:lvl1pPr>
              <a:defRPr sz="640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6731" y="6631621"/>
            <a:ext cx="6619606" cy="1890944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rgbClr val="424242"/>
                </a:solidFill>
              </a:defRPr>
            </a:lvl1pPr>
            <a:lvl2pPr marL="8164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6328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4492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2656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082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8985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7149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5313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bg-BG"/>
              <a:t>Щракнете за редакция стил подзагл. обр.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477488" y="2275243"/>
            <a:ext cx="4267200" cy="1126472"/>
          </a:xfrm>
        </p:spPr>
        <p:txBody>
          <a:bodyPr anchor="b"/>
          <a:lstStyle>
            <a:lvl1pPr algn="l">
              <a:defRPr sz="4300"/>
            </a:lvl1pPr>
          </a:lstStyle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0" name="Rectangle 49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607040" y="8579950"/>
            <a:ext cx="5663184" cy="547688"/>
          </a:xfrm>
        </p:spPr>
        <p:txBody>
          <a:bodyPr>
            <a:norm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98192" y="8579950"/>
            <a:ext cx="1287332" cy="547688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9" name="Rectangle 88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лавие и съдъ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лавка на секц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7290" y="4351244"/>
            <a:ext cx="13274936" cy="2043113"/>
          </a:xfrm>
        </p:spPr>
        <p:txBody>
          <a:bodyPr anchor="b"/>
          <a:lstStyle>
            <a:lvl1pPr algn="l">
              <a:defRPr sz="7100" b="0" cap="none" baseline="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7291" y="6400801"/>
            <a:ext cx="13274934" cy="2280620"/>
          </a:xfrm>
        </p:spPr>
        <p:txBody>
          <a:bodyPr anchor="t"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816422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2pPr>
            <a:lvl3pPr marL="1632844" indent="0">
              <a:buNone/>
              <a:defRPr sz="2900">
                <a:solidFill>
                  <a:schemeClr val="tx1">
                    <a:tint val="75000"/>
                  </a:schemeClr>
                </a:solidFill>
              </a:defRPr>
            </a:lvl3pPr>
            <a:lvl4pPr marL="2449266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4pPr>
            <a:lvl5pPr marL="3265688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5pPr>
            <a:lvl6pPr marL="408211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6pPr>
            <a:lvl7pPr marL="4898532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7pPr>
            <a:lvl8pPr marL="5714954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8pPr>
            <a:lvl9pPr marL="6531376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е съдържа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2084832" y="3470148"/>
            <a:ext cx="6839712" cy="5239512"/>
          </a:xfrm>
        </p:spPr>
        <p:txBody>
          <a:bodyPr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9290304" y="3470147"/>
            <a:ext cx="6839712" cy="5239512"/>
          </a:xfrm>
        </p:spPr>
        <p:txBody>
          <a:bodyPr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222" y="3474014"/>
            <a:ext cx="6114296" cy="959643"/>
          </a:xfrm>
        </p:spPr>
        <p:txBody>
          <a:bodyPr anchor="b"/>
          <a:lstStyle>
            <a:lvl1pPr marL="0" indent="0">
              <a:buNone/>
              <a:defRPr sz="4300" b="1">
                <a:solidFill>
                  <a:schemeClr val="accent1"/>
                </a:solidFill>
              </a:defRPr>
            </a:lvl1pPr>
            <a:lvl2pPr marL="816422" indent="0">
              <a:buNone/>
              <a:defRPr sz="3600" b="1"/>
            </a:lvl2pPr>
            <a:lvl3pPr marL="1632844" indent="0">
              <a:buNone/>
              <a:defRPr sz="3200" b="1"/>
            </a:lvl3pPr>
            <a:lvl4pPr marL="2449266" indent="0">
              <a:buNone/>
              <a:defRPr sz="2900" b="1"/>
            </a:lvl4pPr>
            <a:lvl5pPr marL="3265688" indent="0">
              <a:buNone/>
              <a:defRPr sz="2900" b="1"/>
            </a:lvl5pPr>
            <a:lvl6pPr marL="4082110" indent="0">
              <a:buNone/>
              <a:defRPr sz="2900" b="1"/>
            </a:lvl6pPr>
            <a:lvl7pPr marL="4898532" indent="0">
              <a:buNone/>
              <a:defRPr sz="2900" b="1"/>
            </a:lvl7pPr>
            <a:lvl8pPr marL="5714954" indent="0">
              <a:buNone/>
              <a:defRPr sz="2900" b="1"/>
            </a:lvl8pPr>
            <a:lvl9pPr marL="6531376" indent="0">
              <a:buNone/>
              <a:defRPr sz="29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3442" y="4462042"/>
            <a:ext cx="6839712" cy="4253696"/>
          </a:xfrm>
        </p:spPr>
        <p:txBody>
          <a:bodyPr/>
          <a:lstStyle>
            <a:lvl1pPr>
              <a:defRPr sz="4300"/>
            </a:lvl1pPr>
            <a:lvl2pPr>
              <a:defRPr sz="3600"/>
            </a:lvl2pPr>
            <a:lvl3pPr>
              <a:defRPr sz="3200"/>
            </a:lvl3pPr>
            <a:lvl4pPr>
              <a:defRPr sz="2900"/>
            </a:lvl4pPr>
            <a:lvl5pPr>
              <a:defRPr sz="2900"/>
            </a:lvl5pPr>
            <a:lvl6pPr>
              <a:defRPr sz="2900"/>
            </a:lvl6pPr>
            <a:lvl7pPr>
              <a:defRPr sz="2900"/>
            </a:lvl7pPr>
            <a:lvl8pPr>
              <a:defRPr sz="2900"/>
            </a:lvl8pPr>
            <a:lvl9pPr>
              <a:defRPr sz="2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023675" y="3474015"/>
            <a:ext cx="6111434" cy="959643"/>
          </a:xfrm>
        </p:spPr>
        <p:txBody>
          <a:bodyPr anchor="b"/>
          <a:lstStyle>
            <a:lvl1pPr marL="0" indent="0">
              <a:buNone/>
              <a:defRPr sz="4300" b="1">
                <a:solidFill>
                  <a:schemeClr val="accent1"/>
                </a:solidFill>
              </a:defRPr>
            </a:lvl1pPr>
            <a:lvl2pPr marL="816422" indent="0">
              <a:buNone/>
              <a:defRPr sz="3600" b="1"/>
            </a:lvl2pPr>
            <a:lvl3pPr marL="1632844" indent="0">
              <a:buNone/>
              <a:defRPr sz="3200" b="1"/>
            </a:lvl3pPr>
            <a:lvl4pPr marL="2449266" indent="0">
              <a:buNone/>
              <a:defRPr sz="2900" b="1"/>
            </a:lvl4pPr>
            <a:lvl5pPr marL="3265688" indent="0">
              <a:buNone/>
              <a:defRPr sz="2900" b="1"/>
            </a:lvl5pPr>
            <a:lvl6pPr marL="4082110" indent="0">
              <a:buNone/>
              <a:defRPr sz="2900" b="1"/>
            </a:lvl6pPr>
            <a:lvl7pPr marL="4898532" indent="0">
              <a:buNone/>
              <a:defRPr sz="2900" b="1"/>
            </a:lvl7pPr>
            <a:lvl8pPr marL="5714954" indent="0">
              <a:buNone/>
              <a:defRPr sz="2900" b="1"/>
            </a:lvl8pPr>
            <a:lvl9pPr marL="6531376" indent="0">
              <a:buNone/>
              <a:defRPr sz="29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90304" y="4462042"/>
            <a:ext cx="6839712" cy="4253696"/>
          </a:xfrm>
        </p:spPr>
        <p:txBody>
          <a:bodyPr/>
          <a:lstStyle>
            <a:lvl1pPr>
              <a:defRPr sz="4300"/>
            </a:lvl1pPr>
            <a:lvl2pPr>
              <a:defRPr sz="3600"/>
            </a:lvl2pPr>
            <a:lvl3pPr>
              <a:defRPr sz="3200"/>
            </a:lvl3pPr>
            <a:lvl4pPr>
              <a:defRPr sz="2900"/>
            </a:lvl4pPr>
            <a:lvl5pPr>
              <a:defRPr sz="2900"/>
            </a:lvl5pPr>
            <a:lvl6pPr>
              <a:defRPr sz="2900"/>
            </a:lvl6pPr>
            <a:lvl7pPr>
              <a:defRPr sz="2900"/>
            </a:lvl7pPr>
            <a:lvl8pPr>
              <a:defRPr sz="2900"/>
            </a:lvl8pPr>
            <a:lvl9pPr>
              <a:defRPr sz="2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Само заглав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разе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Съдържание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5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2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84" name="Rectangle 83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5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6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3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1" name="Rectangle 80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2" name="Rectangle 81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4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78" name="Rectangle 77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0" name="Rectangle 79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75" name="Rectangle 74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7" name="Freeform 46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Freeform 49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Freeform 50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Hexagon 54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Freeform 58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Hexagon 62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Hexagon 67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Hexagon 68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0" name="Freeform 69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6" name="Rectangle 45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8" name="Rectangle 57"/>
          <p:cNvSpPr/>
          <p:nvPr/>
        </p:nvSpPr>
        <p:spPr>
          <a:xfrm>
            <a:off x="1811143" y="902825"/>
            <a:ext cx="7124514" cy="847266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788" y="1284791"/>
            <a:ext cx="6180880" cy="7726101"/>
          </a:xfrm>
        </p:spPr>
        <p:txBody>
          <a:bodyPr/>
          <a:lstStyle>
            <a:lvl1pPr>
              <a:defRPr sz="4300"/>
            </a:lvl1pPr>
            <a:lvl2pPr>
              <a:defRPr sz="3900"/>
            </a:lvl2pPr>
            <a:lvl3pPr>
              <a:defRPr sz="3600"/>
            </a:lvl3pPr>
            <a:lvl4pPr>
              <a:defRPr sz="3200"/>
            </a:lvl4pPr>
            <a:lvl5pPr>
              <a:defRPr sz="2900"/>
            </a:lvl5pPr>
            <a:lvl6pPr>
              <a:defRPr sz="3600"/>
            </a:lvl6pPr>
            <a:lvl7pPr>
              <a:defRPr sz="3600"/>
            </a:lvl7pPr>
            <a:lvl8pPr>
              <a:defRPr sz="3600"/>
            </a:lvl8pPr>
            <a:lvl9pPr>
              <a:defRPr sz="36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61" name="Rectangle 60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282896" y="8587253"/>
            <a:ext cx="6987328" cy="547688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79666" y="3986152"/>
            <a:ext cx="6609144" cy="2194730"/>
          </a:xfrm>
        </p:spPr>
        <p:txBody>
          <a:bodyPr anchor="b">
            <a:normAutofit/>
          </a:bodyPr>
          <a:lstStyle>
            <a:lvl1pPr algn="l">
              <a:defRPr sz="5000" b="0"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73184" y="6205491"/>
            <a:ext cx="6597568" cy="2276856"/>
          </a:xfrm>
        </p:spPr>
        <p:txBody>
          <a:bodyPr>
            <a:normAutofit/>
          </a:bodyPr>
          <a:lstStyle>
            <a:lvl1pPr marL="0" indent="0">
              <a:buNone/>
              <a:defRPr sz="2900">
                <a:solidFill>
                  <a:srgbClr val="424242"/>
                </a:solidFill>
              </a:defRPr>
            </a:lvl1pPr>
            <a:lvl2pPr marL="816422" indent="0">
              <a:buNone/>
              <a:defRPr sz="2100"/>
            </a:lvl2pPr>
            <a:lvl3pPr marL="1632844" indent="0">
              <a:buNone/>
              <a:defRPr sz="1800"/>
            </a:lvl3pPr>
            <a:lvl4pPr marL="2449266" indent="0">
              <a:buNone/>
              <a:defRPr sz="1600"/>
            </a:lvl4pPr>
            <a:lvl5pPr marL="3265688" indent="0">
              <a:buNone/>
              <a:defRPr sz="1600"/>
            </a:lvl5pPr>
            <a:lvl6pPr marL="4082110" indent="0">
              <a:buNone/>
              <a:defRPr sz="1600"/>
            </a:lvl6pPr>
            <a:lvl7pPr marL="4898532" indent="0">
              <a:buNone/>
              <a:defRPr sz="1600"/>
            </a:lvl7pPr>
            <a:lvl8pPr marL="5714954" indent="0">
              <a:buNone/>
              <a:defRPr sz="1600"/>
            </a:lvl8pPr>
            <a:lvl9pPr marL="6531376" indent="0">
              <a:buNone/>
              <a:defRPr sz="16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Картина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5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5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87" name="Rectangle 86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8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9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6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4" name="Rectangle 83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5" name="Rectangle 84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6" name="Rectangle 85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7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81" name="Rectangle 80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2" name="Rectangle 81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78" name="Rectangle 77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9" name="Rectangle 78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0" name="Rectangle 79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6" name="Freeform 45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Freeform 49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Hexagon 60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Freeform 62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Hexagon 67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Hexagon 68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0" name="Hexagon 69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Hexagon 70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2" name="Hexagon 71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3" name="Freeform 72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Freeform 73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4" name="Rectangle 93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101" name="Rectangle 100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102" name="Rectangle 101"/>
          <p:cNvSpPr/>
          <p:nvPr/>
        </p:nvSpPr>
        <p:spPr>
          <a:xfrm>
            <a:off x="1811143" y="902825"/>
            <a:ext cx="7124514" cy="8472668"/>
          </a:xfrm>
          <a:prstGeom prst="rect">
            <a:avLst/>
          </a:prstGeom>
          <a:solidFill>
            <a:srgbClr val="FFFFFF"/>
          </a:solidFill>
          <a:ln w="3175"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105" name="Rectangle 104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8848" y="3991356"/>
            <a:ext cx="6601968" cy="2194560"/>
          </a:xfrm>
        </p:spPr>
        <p:txBody>
          <a:bodyPr anchor="b">
            <a:normAutofit/>
          </a:bodyPr>
          <a:lstStyle>
            <a:lvl1pPr algn="l">
              <a:defRPr sz="5000" b="0"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10417" y="1040693"/>
            <a:ext cx="6719246" cy="8202168"/>
          </a:xfrm>
        </p:spPr>
        <p:txBody>
          <a:bodyPr/>
          <a:lstStyle>
            <a:lvl1pPr marL="0" indent="0">
              <a:buNone/>
              <a:defRPr sz="5700">
                <a:solidFill>
                  <a:schemeClr val="accent1"/>
                </a:solidFill>
              </a:defRPr>
            </a:lvl1pPr>
            <a:lvl2pPr marL="816422" indent="0">
              <a:buNone/>
              <a:defRPr sz="5000"/>
            </a:lvl2pPr>
            <a:lvl3pPr marL="1632844" indent="0">
              <a:buNone/>
              <a:defRPr sz="4300"/>
            </a:lvl3pPr>
            <a:lvl4pPr marL="2449266" indent="0">
              <a:buNone/>
              <a:defRPr sz="3600"/>
            </a:lvl4pPr>
            <a:lvl5pPr marL="3265688" indent="0">
              <a:buNone/>
              <a:defRPr sz="3600"/>
            </a:lvl5pPr>
            <a:lvl6pPr marL="4082110" indent="0">
              <a:buNone/>
              <a:defRPr sz="3600"/>
            </a:lvl6pPr>
            <a:lvl7pPr marL="4898532" indent="0">
              <a:buNone/>
              <a:defRPr sz="3600"/>
            </a:lvl7pPr>
            <a:lvl8pPr marL="5714954" indent="0">
              <a:buNone/>
              <a:defRPr sz="3600"/>
            </a:lvl8pPr>
            <a:lvl9pPr marL="6531376" indent="0">
              <a:buNone/>
              <a:defRPr sz="3600"/>
            </a:lvl9pPr>
          </a:lstStyle>
          <a:p>
            <a:r>
              <a:rPr lang="bg-BG"/>
              <a:t>Щракнете върху иконата, за да добавите картина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69261" y="6199633"/>
            <a:ext cx="6601146" cy="2279342"/>
          </a:xfrm>
        </p:spPr>
        <p:txBody>
          <a:bodyPr>
            <a:normAutofit/>
          </a:bodyPr>
          <a:lstStyle>
            <a:lvl1pPr marL="0" indent="0">
              <a:buNone/>
              <a:defRPr sz="2900">
                <a:solidFill>
                  <a:srgbClr val="424242"/>
                </a:solidFill>
              </a:defRPr>
            </a:lvl1pPr>
            <a:lvl2pPr marL="816422" indent="0">
              <a:buNone/>
              <a:defRPr sz="2100"/>
            </a:lvl2pPr>
            <a:lvl3pPr marL="1632844" indent="0">
              <a:buNone/>
              <a:defRPr sz="1800"/>
            </a:lvl3pPr>
            <a:lvl4pPr marL="2449266" indent="0">
              <a:buNone/>
              <a:defRPr sz="1600"/>
            </a:lvl4pPr>
            <a:lvl5pPr marL="3265688" indent="0">
              <a:buNone/>
              <a:defRPr sz="1600"/>
            </a:lvl5pPr>
            <a:lvl6pPr marL="4082110" indent="0">
              <a:buNone/>
              <a:defRPr sz="1600"/>
            </a:lvl6pPr>
            <a:lvl7pPr marL="4898532" indent="0">
              <a:buNone/>
              <a:defRPr sz="1600"/>
            </a:lvl7pPr>
            <a:lvl8pPr marL="5714954" indent="0">
              <a:buNone/>
              <a:defRPr sz="1600"/>
            </a:lvl8pPr>
            <a:lvl9pPr marL="6531376" indent="0">
              <a:buNone/>
              <a:defRPr sz="16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282896" y="8587253"/>
            <a:ext cx="6987328" cy="547688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лавие и вертикален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но заглавие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258801" y="1545221"/>
            <a:ext cx="2968906" cy="7170516"/>
          </a:xfrm>
        </p:spPr>
        <p:txBody>
          <a:bodyPr vert="eaVert" anchor="ctr"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06592" y="1545221"/>
            <a:ext cx="10847408" cy="7170516"/>
          </a:xfrm>
        </p:spPr>
        <p:txBody>
          <a:bodyPr vert="eaVert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/>
          <p:cNvGrpSpPr/>
          <p:nvPr/>
        </p:nvGrpSpPr>
        <p:grpSpPr>
          <a:xfrm>
            <a:off x="-609600" y="0"/>
            <a:ext cx="19864664" cy="10287000"/>
            <a:chOff x="-382404" y="0"/>
            <a:chExt cx="9932332" cy="6858000"/>
          </a:xfrm>
        </p:grpSpPr>
        <p:grpSp>
          <p:nvGrpSpPr>
            <p:cNvPr id="43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101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3" name="Rectangle 112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5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102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110" name="Rectangle 109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1" name="Rectangle 110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2" name="Rectangle 111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103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107" name="Rectangle 106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8" name="Rectangle 107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9" name="Rectangle 108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04" name="Rectangle 103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5" name="Rectangle 104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6" name="Rectangle 105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4" name="Freeform 43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5" name="Freeform 44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Hexagon 49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Freeform 54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Hexagon 57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5" name="Hexagon 94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6" name="Hexagon 95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7" name="Hexagon 96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Hexagon 97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9" name="Freeform 98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0" name="Freeform 99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914400" y="500231"/>
            <a:ext cx="16459200" cy="927847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70" name="Rectangle 69"/>
          <p:cNvSpPr/>
          <p:nvPr/>
        </p:nvSpPr>
        <p:spPr>
          <a:xfrm>
            <a:off x="9122484" y="-32267"/>
            <a:ext cx="7358232" cy="1048866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71" name="Rectangle 70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6980" y="1541496"/>
            <a:ext cx="14049488" cy="1714500"/>
          </a:xfrm>
          <a:prstGeom prst="rect">
            <a:avLst/>
          </a:prstGeom>
        </p:spPr>
        <p:txBody>
          <a:bodyPr vert="horz" lIns="163284" tIns="81642" rIns="163284" bIns="81642" rtlCol="0" anchor="b">
            <a:normAutofit/>
          </a:bodyPr>
          <a:lstStyle/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6985" y="3485478"/>
            <a:ext cx="13554634" cy="5263466"/>
          </a:xfrm>
          <a:prstGeom prst="rect">
            <a:avLst/>
          </a:prstGeom>
        </p:spPr>
        <p:txBody>
          <a:bodyPr vert="horz" lIns="163284" tIns="81642" rIns="163284" bIns="81642" rtlCol="0">
            <a:normAutofit/>
          </a:bodyPr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994776" y="336739"/>
            <a:ext cx="4267200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r">
              <a:defRPr sz="2100">
                <a:solidFill>
                  <a:srgbClr val="FEFEFE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282896" y="8778241"/>
            <a:ext cx="7004304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98192" y="336737"/>
            <a:ext cx="2664312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l">
              <a:defRPr sz="2100">
                <a:solidFill>
                  <a:srgbClr val="FEFEFE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632844" rtl="0" eaLnBrk="1" latinLnBrk="0" hangingPunct="1">
        <a:spcBef>
          <a:spcPct val="0"/>
        </a:spcBef>
        <a:buNone/>
        <a:defRPr sz="71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612317" indent="-489853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4300" kern="1200">
          <a:solidFill>
            <a:schemeClr val="tx2"/>
          </a:solidFill>
          <a:latin typeface="+mn-lt"/>
          <a:ea typeface="+mn-ea"/>
          <a:cs typeface="+mn-cs"/>
        </a:defRPr>
      </a:lvl1pPr>
      <a:lvl2pPr marL="1142991" indent="-489853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900" kern="1200">
          <a:solidFill>
            <a:schemeClr val="tx2"/>
          </a:solidFill>
          <a:latin typeface="+mn-lt"/>
          <a:ea typeface="+mn-ea"/>
          <a:cs typeface="+mn-cs"/>
        </a:defRPr>
      </a:lvl2pPr>
      <a:lvl3pPr marL="1632844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600" kern="1200">
          <a:solidFill>
            <a:schemeClr val="tx2"/>
          </a:solidFill>
          <a:latin typeface="+mn-lt"/>
          <a:ea typeface="+mn-ea"/>
          <a:cs typeface="+mn-cs"/>
        </a:defRPr>
      </a:lvl3pPr>
      <a:lvl4pPr marL="2008398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200" kern="1200">
          <a:solidFill>
            <a:schemeClr val="tx2"/>
          </a:solidFill>
          <a:latin typeface="+mn-lt"/>
          <a:ea typeface="+mn-ea"/>
          <a:cs typeface="+mn-cs"/>
        </a:defRPr>
      </a:lvl4pPr>
      <a:lvl5pPr marL="2367624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9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10521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6pPr>
      <a:lvl7pPr marL="3069747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7pPr>
      <a:lvl8pPr marL="3428973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8pPr>
      <a:lvl9pPr marL="3788198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816422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632844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449266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65688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82110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898532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714954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531376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9.png"/><Relationship Id="rId4" Type="http://schemas.microsoft.com/office/2007/relationships/hdphoto" Target="../media/hdphoto1.wdp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828B2F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201400" y="8138092"/>
            <a:ext cx="4759027" cy="388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2"/>
              </a:lnSpc>
            </a:pPr>
            <a:r>
              <a:rPr lang="en-US" sz="2358" dirty="0" err="1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Дипломан</a:t>
            </a:r>
            <a:r>
              <a:rPr lang="bg-BG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т</a:t>
            </a:r>
            <a:r>
              <a:rPr lang="en-US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: </a:t>
            </a:r>
            <a:r>
              <a:rPr lang="bg-BG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 </a:t>
            </a:r>
            <a:r>
              <a:rPr lang="en-US" sz="2358" dirty="0" err="1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Ива</a:t>
            </a:r>
            <a:r>
              <a:rPr lang="en-US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 </a:t>
            </a:r>
            <a:r>
              <a:rPr lang="en-US" sz="2358" dirty="0" err="1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Колчагова</a:t>
            </a:r>
            <a:endParaRPr lang="en-US" sz="2358" dirty="0">
              <a:solidFill>
                <a:srgbClr val="5A0202"/>
              </a:solidFill>
              <a:latin typeface="Times New Roman" panose="02020603050405020304" pitchFamily="18" charset="0"/>
              <a:ea typeface="Red Hat Display"/>
              <a:cs typeface="Times New Roman" panose="02020603050405020304" pitchFamily="18" charset="0"/>
              <a:sym typeface="Red Hat Display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126940" y="1358512"/>
            <a:ext cx="8141115" cy="2103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ДЪРЖАВЕН ИЗПИТ ЗА ПРИДОБИВАНЕ НА ТРЕТА СТЕПЕН НА ПРОФЕСИОНАЛНА КВАЛИФИКАЦИЯ – ЧАСТ ПО ТЕПРИЯ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 НА ПРОЕКТА ПО ПРОФЕСИЯ КОД 481030 „ПРИЛОЖЕН ПРОГРАМИСТ“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 СПЕЦИАЛНОСТ КОД 4810301 „ ПРИЛОЖНО ПРОГРАМИРАНЕ“</a:t>
            </a:r>
          </a:p>
          <a:p>
            <a:pPr algn="ctr">
              <a:lnSpc>
                <a:spcPts val="2412"/>
              </a:lnSpc>
              <a:spcBef>
                <a:spcPct val="0"/>
              </a:spcBef>
            </a:pPr>
            <a:endParaRPr lang="en-US" sz="2023" b="1" dirty="0">
              <a:solidFill>
                <a:srgbClr val="49500F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869306" y="4776612"/>
            <a:ext cx="6656384" cy="423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2"/>
              </a:lnSpc>
              <a:spcBef>
                <a:spcPct val="0"/>
              </a:spcBef>
            </a:pPr>
            <a:r>
              <a:rPr lang="bg-BG" sz="257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Тема</a:t>
            </a:r>
            <a:r>
              <a:rPr lang="en-US" sz="2573" dirty="0">
                <a:solidFill>
                  <a:srgbClr val="5A0202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: </a:t>
            </a:r>
            <a:r>
              <a:rPr lang="bg-BG" sz="2573" dirty="0">
                <a:solidFill>
                  <a:srgbClr val="5A0202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Класификация на изображения</a:t>
            </a:r>
            <a:endParaRPr lang="en-US" sz="2573" dirty="0">
              <a:solidFill>
                <a:srgbClr val="5A0202"/>
              </a:solidFill>
              <a:latin typeface="Times New Roman" panose="02020603050405020304" pitchFamily="18" charset="0"/>
              <a:ea typeface="Open Sans"/>
              <a:cs typeface="Times New Roman" panose="02020603050405020304" pitchFamily="18" charset="0"/>
              <a:sym typeface="Open San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1239590"/>
            <a:ext cx="1723636" cy="17236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7391400" y="221962"/>
            <a:ext cx="3276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 на проекта</a:t>
            </a:r>
          </a:p>
        </p:txBody>
      </p:sp>
      <p:pic>
        <p:nvPicPr>
          <p:cNvPr id="9" name="Картина 8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028699"/>
            <a:ext cx="8305800" cy="48768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Картина 9"/>
          <p:cNvPicPr/>
          <p:nvPr/>
        </p:nvPicPr>
        <p:blipFill>
          <a:blip r:embed="rId4"/>
          <a:stretch>
            <a:fillRect/>
          </a:stretch>
        </p:blipFill>
        <p:spPr>
          <a:xfrm>
            <a:off x="9034013" y="4838700"/>
            <a:ext cx="8305800" cy="4876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143" y="-1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5334000" y="221961"/>
            <a:ext cx="15544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Защо е необходимо това приложение? </a:t>
            </a:r>
            <a:endParaRPr lang="bg-BG" sz="3200" b="1" dirty="0">
              <a:solidFill>
                <a:srgbClr val="5A0202"/>
              </a:solidFill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200" y="1395321"/>
            <a:ext cx="11734995" cy="79903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5257800" y="221962"/>
            <a:ext cx="7761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Използване на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CNN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Transfer Learning. </a:t>
            </a:r>
            <a:endParaRPr lang="bg-BG" sz="3200" b="1" dirty="0">
              <a:solidFill>
                <a:srgbClr val="5A0202"/>
              </a:solidFill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4117" y="1257300"/>
            <a:ext cx="13868400" cy="8382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257300"/>
            <a:ext cx="14782800" cy="8305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6629400" y="221962"/>
            <a:ext cx="434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Библиотеки на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bg-B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Python - Wikiversit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422" b="92266" l="5391" r="9476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2487" y="1066799"/>
            <a:ext cx="4174561" cy="41745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Django - Full Stack Python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100000">
                        <a14:foregroundMark x1="46333" y1="31579" x2="48000" y2="57895"/>
                        <a14:foregroundMark x1="87917" y1="31579" x2="83250" y2="56938"/>
                        <a14:foregroundMark x1="37500" y1="34450" x2="40917" y2="54067"/>
                        <a14:foregroundMark x1="23583" y1="38278" x2="22583" y2="62679"/>
                        <a14:foregroundMark x1="21917" y1="13158" x2="21917" y2="13158"/>
                        <a14:foregroundMark x1="14833" y1="32536" x2="14167" y2="3827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5275511"/>
            <a:ext cx="3730171" cy="12993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75" b="99302" l="4197" r="96898">
                        <a14:foregroundMark x1="5657" y1="24782" x2="47080" y2="209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327" y="6362700"/>
            <a:ext cx="2058883" cy="21528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34" name="Picture 10" descr="Keras: Deep Learning for humans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40771" y="5264576"/>
            <a:ext cx="4499429" cy="13048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3200400" y="221962"/>
            <a:ext cx="1249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Django Framework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REST API.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Клиент-сървър архитектура</a:t>
            </a:r>
            <a:r>
              <a:rPr lang="bg-BG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AutoShape 2" descr="Клиент – сървър – Уикипедия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  <p:pic>
        <p:nvPicPr>
          <p:cNvPr id="11" name="Картина 10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1173163"/>
            <a:ext cx="7924799" cy="51264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028" name="Picture 4" descr="Understand How Python Django MVT Work In 3 Minutes | by Debugging ..."/>
          <p:cNvPicPr>
            <a:picLocks noChangeAspect="1" noChangeArrowheads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4400" y="4381500"/>
            <a:ext cx="8712745" cy="52649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512379" y="221962"/>
            <a:ext cx="1432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Точност на класификацията и потребителско преживяване</a:t>
            </a:r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bg-BG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1485900"/>
            <a:ext cx="11270554" cy="77526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pic>
        <p:nvPicPr>
          <p:cNvPr id="10" name="Картина 9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028700"/>
            <a:ext cx="16459200" cy="8763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914400" y="8763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687021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4031343" y="4197314"/>
            <a:ext cx="1021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60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Благодаря за вниманието!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Остин">
  <a:themeElements>
    <a:clrScheme name="Остин">
      <a:dk1>
        <a:sysClr val="windowText" lastClr="000000"/>
      </a:dk1>
      <a:lt1>
        <a:sysClr val="window" lastClr="FFFFFF"/>
      </a:lt1>
      <a:dk2>
        <a:srgbClr val="3E3D2D"/>
      </a:dk2>
      <a:lt2>
        <a:srgbClr val="CAF278"/>
      </a:lt2>
      <a:accent1>
        <a:srgbClr val="94C600"/>
      </a:accent1>
      <a:accent2>
        <a:srgbClr val="71685A"/>
      </a:accent2>
      <a:accent3>
        <a:srgbClr val="FF6700"/>
      </a:accent3>
      <a:accent4>
        <a:srgbClr val="909465"/>
      </a:accent4>
      <a:accent5>
        <a:srgbClr val="956B43"/>
      </a:accent5>
      <a:accent6>
        <a:srgbClr val="FEA022"/>
      </a:accent6>
      <a:hlink>
        <a:srgbClr val="E68200"/>
      </a:hlink>
      <a:folHlink>
        <a:srgbClr val="FFA94A"/>
      </a:folHlink>
    </a:clrScheme>
    <a:fontScheme name="Остин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Остин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  <a:lumMod val="100000"/>
              </a:schemeClr>
            </a:gs>
          </a:gsLst>
          <a:lin ang="504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75000"/>
                <a:satMod val="120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>
            <a:bevelT w="50800" h="12700" prst="softRound"/>
          </a:sp3d>
        </a:effectStyle>
        <a:effectStyle>
          <a:effectLst>
            <a:outerShdw blurRad="44450" dist="50800" dir="5400000" sx="96000" rotWithShape="0">
              <a:srgbClr val="000000">
                <a:alpha val="3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 contourW="15875" prstMaterial="metal">
            <a:bevelT w="101600" h="25400" prst="softRound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94000"/>
                <a:satMod val="114000"/>
                <a:lumMod val="96000"/>
              </a:schemeClr>
            </a:gs>
            <a:gs pos="62000">
              <a:schemeClr val="phClr">
                <a:tint val="92000"/>
                <a:shade val="66000"/>
                <a:satMod val="110000"/>
                <a:lumMod val="80000"/>
              </a:schemeClr>
            </a:gs>
            <a:gs pos="100000">
              <a:schemeClr val="phClr">
                <a:tint val="89000"/>
                <a:shade val="62000"/>
                <a:satMod val="110000"/>
                <a:lumMod val="7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80000"/>
                <a:shade val="58000"/>
              </a:schemeClr>
              <a:schemeClr val="phClr">
                <a:tint val="73000"/>
                <a:shade val="68000"/>
                <a:satMod val="15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Austin</Template>
  <TotalTime>683</TotalTime>
  <Words>425</Words>
  <Application>Microsoft Office PowerPoint</Application>
  <PresentationFormat>Custom</PresentationFormat>
  <Paragraphs>39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Open Sans Bold</vt:lpstr>
      <vt:lpstr>Century Gothic</vt:lpstr>
      <vt:lpstr>Wingdings 2</vt:lpstr>
      <vt:lpstr>Times New Roman</vt:lpstr>
      <vt:lpstr>Red Hat Display</vt:lpstr>
      <vt:lpstr>Open Sans</vt:lpstr>
      <vt:lpstr>Calibri</vt:lpstr>
      <vt:lpstr>Остин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Geometric Thesis Defense Presentation</dc:title>
  <dc:creator>Vistauser</dc:creator>
  <cp:lastModifiedBy>admin</cp:lastModifiedBy>
  <cp:revision>49</cp:revision>
  <dcterms:created xsi:type="dcterms:W3CDTF">2006-08-16T00:00:00Z</dcterms:created>
  <dcterms:modified xsi:type="dcterms:W3CDTF">2026-05-12T09:12:02Z</dcterms:modified>
  <dc:identifier>DAHHeaqNLLk</dc:identifier>
</cp:coreProperties>
</file>